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7FDDA3-D15D-4F2D-81DB-7366AADF92BB}">
  <a:tblStyle styleId="{B37FDDA3-D15D-4F2D-81DB-7366AADF92B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0:00-0:35. State the question: can insertion sort at small recursive leaves reduce Python CPU time? We implemented both algorithms, counted key comparisons and measured CPU separately. Explain that S is a leaf-size threshold, and that we chose it from experiments. Requirements: Project1.pdf p.1. Presentation format: info.pdf p.1-2. No student names or contributions are assumed.</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g409dce7a65c_0_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 name="Google Shape;21;g409dce7a65c_0_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25 seconds. Read merge_sort first: prepare one reusable buffer, set lo=0 and hi=len(values), then call _original. The range [lo, hi) includes lo but excludes hi. _original stops at size 0 or 1, recursively sorts both halves, and merges them. In _merge, left and right are the indices of the next unused items in each half. output is the index of the next buffer slot to fill. Taking the left item when values are equal keeps the sort stable. Copying leftovers needs no ordering comparisons. Code source: current algorithms.py, using left, right and output. Historical full benchmark results were measured before the readability rewrite (commit 25fc591).</a:t>
            </a:r>
            <a:endParaRPr/>
          </a:p>
        </p:txBody>
      </p:sp>
      <p:sp>
        <p:nvSpPr>
          <p:cNvPr id="22" name="Google Shape;22;g409dce7a65c_0_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409dce7a65c_0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g409dce7a65c_0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20 seconds. The counted version makes the same sorting decisions as the uncounted version. A key comparison compares data values for ordering. In _merge_counted, increment comparisons immediately before evaluating values[left] &lt;= values[right]. Count either outcome, true or false. left and right index the two halves, and output indexes the buffer. Do not count index checks, copying, or the stopping condition. _original_counted adds left_comparisons, right_comparisons and merge_comparisons. The base case returns zero. Timing uses the separate uncounted version so the counter does not distort sorting CPU time. Code source: current algorithms.py with the shorter index names.</a:t>
            </a:r>
            <a:endParaRPr/>
          </a:p>
        </p:txBody>
      </p:sp>
      <p:sp>
        <p:nvSpPr>
          <p:cNvPr id="34" name="Google Shape;34;g409dce7a65c_0_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409dce7a65c_0_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g409dce7a65c_0_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25 seconds. If hi is None, no end index was supplied, so set hi to len(values). _check_range verifies 0 &lt;= lo &lt;= hi &lt;= len(values). _insert starts at the second item because the first item alone is already sorted. Save the current item as key, shift earlier values that are larger than key one place right, then insert key into the gap. The prefix remains sorted after each pass. Strict &gt; means an equal item is not moved past another equal item, preserving stability. Explicit assignments such as previous = previous - 1 replace shorthand. These panels use the current beginner-friendly algorithms.py (422d067), with comments/docstrings omitted.</a:t>
            </a:r>
            <a:endParaRPr/>
          </a:p>
        </p:txBody>
      </p:sp>
      <p:sp>
        <p:nvSpPr>
          <p:cNvPr id="46" name="Google Shape;46;g409dce7a65c_0_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409dce7a65c_0_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g409dce7a65c_0_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20 seconds. Count one comparison whenever values[previous] &gt; key is evaluated, including the false result that stops shifting. If previous falls below lo, the while condition stops before another data comparison; add no extra comparison. Example [5, 2, 4]: 5 &gt; 2 is true; then 5 &gt; 4 is true and 2 &gt; 4 is false, giving three comparisons. [1, 3, 6] needs two false comparisons. Index checks and assignments do not count. The public counted function sorts the supplied list and returns comparisons. Source: current algorithms.py (422d067).</a:t>
            </a:r>
            <a:endParaRPr/>
          </a:p>
        </p:txBody>
      </p:sp>
      <p:sp>
        <p:nvSpPr>
          <p:cNvPr id="57" name="Google Shape;57;g409dce7a65c_0_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409dce7a65c_0_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g409dce7a65c_0_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35 seconds, including the worked example. S is the cutoff for the CURRENT subarray, whose size is hi - lo. If size &lt;= threshold, use insertion sort and return; otherwise split, recursively sort both halves, and merge. The public wrapper validates S and prepares one reusable buffer. For [5, 2, 4, 1, 3, 6] with S=3, insertion sort sorts each length-three half, then merge combines the sorted halves. Source: current algorithms.py (422d067). Suggested live demo: run python demo.py on the next slide; do not start large benchmarks during the presentation.</a:t>
            </a:r>
            <a:endParaRPr/>
          </a:p>
        </p:txBody>
      </p:sp>
      <p:sp>
        <p:nvSpPr>
          <p:cNvPr id="68" name="Google Shape;68;g409dce7a65c_0_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35 seconds, including an optional 20-second live demo using python demo.py. A leaf returns its insertion-sort comparison count. An internal call adds the counts from the left half, right half and merge. For S=3 on [5, 2, 4, 1, 3, 6], insertion needs 3 comparisons on the left and 2 on the right. Merge compares five pairs and copies the remaining 6, giving 3 + 2 + 5 = 10 comparisons. S=1 agrees with original merge sort under this implementation; S&gt;=n uses insertion sort on the whole list. This tiny example explains the mechanism, not a performance advantage. Panels use current algorithms.py (422d067), with equivalent wrapping of long lines. The full benchmark results were measured with the earlier implementation (25fc591); the readability rewrite has correctness tests and its own smoke run.</a:t>
            </a:r>
            <a:endParaRPr/>
          </a:p>
        </p:txBody>
      </p:sp>
      <p:sp>
        <p:nvSpPr>
          <p:cNvPr id="80" name="Google Shape;8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1:50-2:55. Explain stability: left on ties, shift only greater values. Index checks, copying and validation do not count. Tests include exhaustive ternary arrays through length 6 and S=1 equality with original counts. Large runs check exact frequency histograms and sorted order, not just checksums. Warmup is one deterministic small sort per case. Seeded shuffled order and 3 input seeds reduce systematic order bias. Timed tiny inputs use independent pre-timer batches. Metadata captures CPython/Windows/hardware. sources: tests/, experiment.py, results/full/metadata.json. Timer semantics: https://docs.python.org/3/library/time.html#time.process_time. RNG: https://docs.python.org/3/library/random.html#random.randint.</a:t>
            </a:r>
            <a:endParaRPr/>
          </a:p>
        </p:txBody>
      </p:sp>
      <p:sp>
        <p:nvSpPr>
          <p:cNvPr id="92" name="Google Shape;9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409dd06b9c9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g409dd06b9c9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0:35-1:50, including about 25 seconds of live demo. Explain [lo,hi): lo is included, hi excluded. Trace the left leaf: 5&gt;2 true, 5&gt;4 true, 2&gt;4 false. Right leaf has two false comparisons. Merge needs five ordering checks then copies 6. Run python demo.py from the preopened terminal. Both algorithms happen to make 10 comparisons on this input. This example explains mechanics, not typical speed. If the terminal fails, use these precomputed values. Source: algorithms.py and demo.py. Lecture 01_Sorting.pdf p.12/14.</a:t>
            </a:r>
            <a:endParaRPr/>
          </a:p>
        </p:txBody>
      </p:sp>
      <p:sp>
        <p:nvSpPr>
          <p:cNvPr id="103" name="Google Shape;103;g409dd06b9c9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2:55-4:10. Explain the original recurrence for even n; the exact code uses floor/ceiling lengths. Merge work is linear at each of logarithmically many levels. Hybrid replaces lower merge levels with insertion leaves. With constant S it retains n log n growth. The plotted coordinates are log10(n) and log10(count), so 3 to 7 covers 1,000 through 10,000,000. The full notebook uses conventional log axes plus min-max ranges and the worst bound. The analytical random-distinct expectation is an approximation to repeated integers, not a fitted line. Similar shape does not prove complexity; the recurrence does. Source: theory.py, docs/theory.md, raw stage=scale.</a:t>
            </a:r>
            <a:endParaRPr/>
          </a:p>
        </p:txBody>
      </p:sp>
      <p:sp>
        <p:nvSpPr>
          <p:cNvPr id="115" name="Google Shape;11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4:10-5:10. Fixed n separates the threshold effect from input-size growth. Merge levels shrink only when S crosses an actual recursive subarray length. Larger leaves increase insertion comparisons. Our analytical recurrence uses the real rounded leaf sizes, explaining plateaus. Both true and terminating false comparisons are included in the distinct insertion expectation m(m-1)/4+m-H_m. The curve is an approximation with ties. Source: theory.py and raw stage=tune,n=100000.</a:t>
            </a:r>
            <a:endParaRPr/>
          </a:p>
        </p:txBody>
      </p:sp>
      <p:sp>
        <p:nvSpPr>
          <p:cNvPr id="125" name="Google Shape;12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5:10-6:25. CPU is the predeclared primary criterion. Shortlist the three thresholds with the lowest geometric mean of CPU ratios across the tuning sizes. Candidates: 12, 16, 32. Confirm on fresh one-million inputs. Confirmation medians: S=12: 2.78125 s; S=16: 2.82812 s; S=32: 2.78125 s. S=12, 32 tied at 2.78125 s median. The rule chooses smaller S. These overlapping/noisy results do not establish a universal optimum. The chart shows each confirmation seed, and notebook charts show ranges. Report count winners separately from CPU winners. Source: shortlist.json, selection.json and raw tune/confirm. A threshold is best only within the tested search and criterion.</a:t>
            </a:r>
            <a:endParaRPr/>
          </a:p>
        </p:txBody>
      </p:sp>
      <p:sp>
        <p:nvSpPr>
          <p:cNvPr id="135" name="Google Shape;13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6:25-7:30. These are real full-size runs on three fresh seeds. Each line pairs the same unsorted dataset. Speedup is original CPU divided by hybrid CPU for each seed; then take the median. Median paired speedup is 0.929x, observed range 0.922-0.983x. The ratio of medians is 0.979x, a different statistic. Median comparisons are 220,099,689 original and 226,418,149 hybrid, a +2.87% change. Counts exclude timer/counter overhead as explained. The appendix has raw values. Sources: results/full/raw.csv stage=final, plots/full/final_paired_cpu.csv and final_paired_comparisons.csv.</a:t>
            </a:r>
            <a:endParaRPr/>
          </a:p>
        </p:txBody>
      </p:sp>
      <p:sp>
        <p:nvSpPr>
          <p:cNvPr id="145" name="Google Shape;14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409dd06b9c9_3_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409dd06b9c9_3_1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409dd06b9c9_3_1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7:30-8:00. State the observed finding without promising it on other machines/distributions. Three repeats describe variability, not statistical significance. Python overhead, copies and recursion explain why count and CPU rankings can differ, but we did not profile causality. Stop at 8:00 and allow Q&amp;A until 10:00. Every member should be ready to answer all topics. Use the appendices only when asked. Source: measured findings and info.pdf.</a:t>
            </a:r>
            <a:endParaRPr/>
          </a:p>
        </p:txBody>
      </p:sp>
      <p:sp>
        <p:nvSpPr>
          <p:cNvPr id="165" name="Google Shape;16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Appendix, not in the 8-minute script. Explain the expected trailing run in merge: its expectation is a/(b+1)+b/(a+1), subtracted from total length. Expected insertion inversions omit false comparisons; add m-H_m. Exact discrete ties change the expectation. Public hybrid allocates a buffer even when S&gt;=n, though insertion itself is O(1) extra space. The full expression uses B=min(S,n) to avoid negative log values. Source: docs/theory.md and theory.py.</a:t>
            </a:r>
            <a:endParaRPr/>
          </a:p>
        </p:txBody>
      </p:sp>
      <p:sp>
        <p:nvSpPr>
          <p:cNvPr id="174" name="Google Shape;17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Appendix. CPU and count are intentionally different modes. All final runs use batch size 1 and n=10,000,000. The three seeds are fresh relative to tuning. Check the raw CSV for wall time and integrity checks. Source: results/full/raw.csv. Speedup per row pair is original CPU/hybrid CPU.</a:t>
            </a:r>
            <a:endParaRPr/>
          </a:p>
        </p:txBody>
      </p:sp>
      <p:sp>
        <p:nvSpPr>
          <p:cNvPr id="185" name="Google Shape;185;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Appendix. Distinguish raw comparison minimization from practical CPU performance. Finite thresholds, three seeds, one machine. Do not use the tiny smoke run as evidence. The observed min-max CPU bars in the notebook help interpret near ties. Source: plots/full/findings.json and raw tune rows.</a:t>
            </a:r>
            <a:endParaRPr/>
          </a:p>
        </p:txBody>
      </p:sp>
      <p:sp>
        <p:nvSpPr>
          <p:cNvPr id="194" name="Google Shape;19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685800" y="742950"/>
            <a:ext cx="10477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66A8F"/>
                </a:solidFill>
                <a:latin typeface="Arial"/>
                <a:ea typeface="Arial"/>
                <a:cs typeface="Arial"/>
                <a:sym typeface="Arial"/>
              </a:rPr>
              <a:t>SC2001 Project 1</a:t>
            </a:r>
            <a:endParaRPr/>
          </a:p>
        </p:txBody>
      </p:sp>
      <p:sp>
        <p:nvSpPr>
          <p:cNvPr id="17" name="Google Shape;17;p3"/>
          <p:cNvSpPr/>
          <p:nvPr/>
        </p:nvSpPr>
        <p:spPr>
          <a:xfrm>
            <a:off x="685800" y="1762125"/>
            <a:ext cx="10763250" cy="1809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350">
                <a:solidFill>
                  <a:srgbClr val="183247"/>
                </a:solidFill>
                <a:latin typeface="Arial"/>
                <a:ea typeface="Arial"/>
                <a:cs typeface="Arial"/>
                <a:sym typeface="Arial"/>
              </a:rPr>
              <a:t>Integration of Merge Sort</a:t>
            </a:r>
            <a:endParaRPr/>
          </a:p>
          <a:p>
            <a:pPr indent="0" lvl="0" marL="0" marR="0" rtl="0" algn="l">
              <a:spcBef>
                <a:spcPts val="0"/>
              </a:spcBef>
              <a:spcAft>
                <a:spcPts val="0"/>
              </a:spcAft>
              <a:buNone/>
            </a:pPr>
            <a:r>
              <a:rPr b="1" lang="en-US" sz="4350">
                <a:solidFill>
                  <a:srgbClr val="183247"/>
                </a:solidFill>
                <a:latin typeface="Arial"/>
                <a:ea typeface="Arial"/>
                <a:cs typeface="Arial"/>
                <a:sym typeface="Arial"/>
              </a:rPr>
              <a:t>&amp; Insertion Sort</a:t>
            </a:r>
            <a:endParaRPr/>
          </a:p>
        </p:txBody>
      </p:sp>
      <p:sp>
        <p:nvSpPr>
          <p:cNvPr id="18" name="Google Shape;18;p3"/>
          <p:cNvSpPr/>
          <p:nvPr/>
        </p:nvSpPr>
        <p:spPr>
          <a:xfrm>
            <a:off x="723900" y="4286250"/>
            <a:ext cx="10477500" cy="1333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325">
                <a:solidFill>
                  <a:srgbClr val="48616E"/>
                </a:solidFill>
                <a:latin typeface="Arial"/>
                <a:ea typeface="Arial"/>
                <a:cs typeface="Arial"/>
                <a:sym typeface="Arial"/>
              </a:rPr>
              <a:t>Handwritten Python algorithms</a:t>
            </a:r>
            <a:endParaRPr/>
          </a:p>
          <a:p>
            <a:pPr indent="0" lvl="0" marL="0" marR="0" rtl="0" algn="l">
              <a:spcBef>
                <a:spcPts val="0"/>
              </a:spcBef>
              <a:spcAft>
                <a:spcPts val="0"/>
              </a:spcAft>
              <a:buNone/>
            </a:pPr>
            <a:r>
              <a:rPr b="0" lang="en-US" sz="2325">
                <a:solidFill>
                  <a:srgbClr val="48616E"/>
                </a:solidFill>
                <a:latin typeface="Arial"/>
                <a:ea typeface="Arial"/>
                <a:cs typeface="Arial"/>
                <a:sym typeface="Arial"/>
              </a:rPr>
              <a:t>Measured inputs from 1,000 to 10,000,000 integers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 name="Shape 23"/>
        <p:cNvGrpSpPr/>
        <p:nvPr/>
      </p:nvGrpSpPr>
      <p:grpSpPr>
        <a:xfrm>
          <a:off x="0" y="0"/>
          <a:ext cx="0" cy="0"/>
          <a:chOff x="0" y="0"/>
          <a:chExt cx="0" cy="0"/>
        </a:xfrm>
      </p:grpSpPr>
      <p:sp>
        <p:nvSpPr>
          <p:cNvPr id="24" name="Google Shape;24;p4"/>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The </a:t>
            </a:r>
            <a:r>
              <a:rPr b="1" lang="en-US" sz="3150">
                <a:solidFill>
                  <a:srgbClr val="183247"/>
                </a:solidFill>
              </a:rPr>
              <a:t>merge sort</a:t>
            </a:r>
            <a:r>
              <a:rPr b="1" lang="en-US" sz="3150">
                <a:solidFill>
                  <a:srgbClr val="183247"/>
                </a:solidFill>
                <a:latin typeface="Arial"/>
                <a:ea typeface="Arial"/>
                <a:cs typeface="Arial"/>
                <a:sym typeface="Arial"/>
              </a:rPr>
              <a:t> algorithm</a:t>
            </a:r>
            <a:endParaRPr/>
          </a:p>
        </p:txBody>
      </p:sp>
      <p:sp>
        <p:nvSpPr>
          <p:cNvPr id="25" name="Google Shape;25;p4"/>
          <p:cNvSpPr/>
          <p:nvPr/>
        </p:nvSpPr>
        <p:spPr>
          <a:xfrm>
            <a:off x="571500" y="1457325"/>
            <a:ext cx="55722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66A8F"/>
                </a:solidFill>
              </a:rPr>
              <a:t>Split first, then merge</a:t>
            </a:r>
            <a:endParaRPr/>
          </a:p>
        </p:txBody>
      </p:sp>
      <p:sp>
        <p:nvSpPr>
          <p:cNvPr id="26" name="Google Shape;26;p4"/>
          <p:cNvSpPr/>
          <p:nvPr/>
        </p:nvSpPr>
        <p:spPr>
          <a:xfrm>
            <a:off x="6546475" y="259900"/>
            <a:ext cx="4857900" cy="523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2025">
                <a:solidFill>
                  <a:srgbClr val="166A8F"/>
                </a:solidFill>
              </a:rPr>
              <a:t>Merge</a:t>
            </a:r>
            <a:r>
              <a:rPr b="1" lang="en-US" sz="2025">
                <a:solidFill>
                  <a:srgbClr val="166A8F"/>
                </a:solidFill>
              </a:rPr>
              <a:t> function</a:t>
            </a:r>
            <a:endParaRPr/>
          </a:p>
        </p:txBody>
      </p:sp>
      <p:sp>
        <p:nvSpPr>
          <p:cNvPr id="27" name="Google Shape;27;p4"/>
          <p:cNvSpPr/>
          <p:nvPr/>
        </p:nvSpPr>
        <p:spPr>
          <a:xfrm>
            <a:off x="11239500" y="6515100"/>
            <a:ext cx="6192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2</a:t>
            </a:r>
            <a:endParaRPr/>
          </a:p>
        </p:txBody>
      </p:sp>
      <p:pic>
        <p:nvPicPr>
          <p:cNvPr id="28" name="Google Shape;28;p4" title="slide-02-original.png"/>
          <p:cNvPicPr preferRelativeResize="0"/>
          <p:nvPr/>
        </p:nvPicPr>
        <p:blipFill rotWithShape="1">
          <a:blip r:embed="rId3">
            <a:alphaModFix/>
          </a:blip>
          <a:srcRect b="0" l="20" r="10" t="0"/>
          <a:stretch/>
        </p:blipFill>
        <p:spPr>
          <a:xfrm>
            <a:off x="522525" y="3333450"/>
            <a:ext cx="4986850" cy="3181650"/>
          </a:xfrm>
          <a:prstGeom prst="rect">
            <a:avLst/>
          </a:prstGeom>
          <a:noFill/>
          <a:ln>
            <a:noFill/>
          </a:ln>
        </p:spPr>
      </p:pic>
      <p:pic>
        <p:nvPicPr>
          <p:cNvPr id="29" name="Google Shape;29;p4" title="slide-02-merge.png"/>
          <p:cNvPicPr preferRelativeResize="0"/>
          <p:nvPr/>
        </p:nvPicPr>
        <p:blipFill rotWithShape="1">
          <a:blip r:embed="rId4">
            <a:alphaModFix/>
          </a:blip>
          <a:srcRect b="20" l="0" r="0" t="10"/>
          <a:stretch/>
        </p:blipFill>
        <p:spPr>
          <a:xfrm>
            <a:off x="6546475" y="783700"/>
            <a:ext cx="4928277" cy="5769500"/>
          </a:xfrm>
          <a:prstGeom prst="rect">
            <a:avLst/>
          </a:prstGeom>
          <a:noFill/>
          <a:ln>
            <a:noFill/>
          </a:ln>
        </p:spPr>
      </p:pic>
      <p:pic>
        <p:nvPicPr>
          <p:cNvPr id="30" name="Google Shape;30;p4" title="slide-02-merge_sort.png"/>
          <p:cNvPicPr preferRelativeResize="0"/>
          <p:nvPr/>
        </p:nvPicPr>
        <p:blipFill rotWithShape="1">
          <a:blip r:embed="rId5">
            <a:alphaModFix/>
          </a:blip>
          <a:srcRect b="60" l="0" r="0" t="50"/>
          <a:stretch/>
        </p:blipFill>
        <p:spPr>
          <a:xfrm>
            <a:off x="522525" y="2015375"/>
            <a:ext cx="4986850" cy="1187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5"/>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The </a:t>
            </a:r>
            <a:r>
              <a:rPr b="1" lang="en-US" sz="3150">
                <a:solidFill>
                  <a:srgbClr val="183247"/>
                </a:solidFill>
              </a:rPr>
              <a:t>merge sort</a:t>
            </a:r>
            <a:r>
              <a:rPr b="1" lang="en-US" sz="3150">
                <a:solidFill>
                  <a:srgbClr val="183247"/>
                </a:solidFill>
                <a:latin typeface="Arial"/>
                <a:ea typeface="Arial"/>
                <a:cs typeface="Arial"/>
                <a:sym typeface="Arial"/>
              </a:rPr>
              <a:t> algorithm (with key comparisons)</a:t>
            </a:r>
            <a:endParaRPr/>
          </a:p>
        </p:txBody>
      </p:sp>
      <p:sp>
        <p:nvSpPr>
          <p:cNvPr id="37" name="Google Shape;37;p5"/>
          <p:cNvSpPr/>
          <p:nvPr/>
        </p:nvSpPr>
        <p:spPr>
          <a:xfrm>
            <a:off x="571500" y="1457325"/>
            <a:ext cx="55722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66A8F"/>
                </a:solidFill>
              </a:rPr>
              <a:t>Split first, then merge</a:t>
            </a:r>
            <a:endParaRPr/>
          </a:p>
        </p:txBody>
      </p:sp>
      <p:sp>
        <p:nvSpPr>
          <p:cNvPr id="38" name="Google Shape;38;p5"/>
          <p:cNvSpPr/>
          <p:nvPr/>
        </p:nvSpPr>
        <p:spPr>
          <a:xfrm>
            <a:off x="6708175" y="933525"/>
            <a:ext cx="4857900" cy="523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2025">
                <a:solidFill>
                  <a:srgbClr val="166A8F"/>
                </a:solidFill>
              </a:rPr>
              <a:t>Merge function</a:t>
            </a:r>
            <a:endParaRPr/>
          </a:p>
        </p:txBody>
      </p:sp>
      <p:sp>
        <p:nvSpPr>
          <p:cNvPr id="39" name="Google Shape;39;p5"/>
          <p:cNvSpPr/>
          <p:nvPr/>
        </p:nvSpPr>
        <p:spPr>
          <a:xfrm>
            <a:off x="11239500" y="6515100"/>
            <a:ext cx="6192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2</a:t>
            </a:r>
            <a:endParaRPr/>
          </a:p>
        </p:txBody>
      </p:sp>
      <p:pic>
        <p:nvPicPr>
          <p:cNvPr id="40" name="Google Shape;40;p5" title="slide-03-original_counted.png"/>
          <p:cNvPicPr preferRelativeResize="0"/>
          <p:nvPr/>
        </p:nvPicPr>
        <p:blipFill rotWithShape="1">
          <a:blip r:embed="rId3">
            <a:alphaModFix/>
          </a:blip>
          <a:srcRect b="0" l="0" r="10" t="0"/>
          <a:stretch/>
        </p:blipFill>
        <p:spPr>
          <a:xfrm>
            <a:off x="413650" y="3558850"/>
            <a:ext cx="5073950" cy="2928251"/>
          </a:xfrm>
          <a:prstGeom prst="rect">
            <a:avLst/>
          </a:prstGeom>
          <a:noFill/>
          <a:ln>
            <a:noFill/>
          </a:ln>
        </p:spPr>
      </p:pic>
      <p:pic>
        <p:nvPicPr>
          <p:cNvPr id="41" name="Google Shape;41;p5" title="slide-03-merge_counted.png"/>
          <p:cNvPicPr preferRelativeResize="0"/>
          <p:nvPr/>
        </p:nvPicPr>
        <p:blipFill rotWithShape="1">
          <a:blip r:embed="rId4">
            <a:alphaModFix/>
          </a:blip>
          <a:srcRect b="0" l="10" r="10" t="0"/>
          <a:stretch/>
        </p:blipFill>
        <p:spPr>
          <a:xfrm>
            <a:off x="6672988" y="1390088"/>
            <a:ext cx="4928277" cy="5097001"/>
          </a:xfrm>
          <a:prstGeom prst="rect">
            <a:avLst/>
          </a:prstGeom>
          <a:noFill/>
          <a:ln>
            <a:noFill/>
          </a:ln>
        </p:spPr>
      </p:pic>
      <p:pic>
        <p:nvPicPr>
          <p:cNvPr id="42" name="Google Shape;42;p5" title="slide-03-merge_sort_counted.png"/>
          <p:cNvPicPr preferRelativeResize="0"/>
          <p:nvPr/>
        </p:nvPicPr>
        <p:blipFill rotWithShape="1">
          <a:blip r:embed="rId5">
            <a:alphaModFix/>
          </a:blip>
          <a:srcRect b="10" l="0" r="0" t="10"/>
          <a:stretch/>
        </p:blipFill>
        <p:spPr>
          <a:xfrm>
            <a:off x="413650" y="1950050"/>
            <a:ext cx="5073950" cy="1492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The </a:t>
            </a:r>
            <a:r>
              <a:rPr b="1" lang="en-US" sz="3150">
                <a:solidFill>
                  <a:srgbClr val="183247"/>
                </a:solidFill>
              </a:rPr>
              <a:t>insertion sort</a:t>
            </a:r>
            <a:r>
              <a:rPr b="1" lang="en-US" sz="3150">
                <a:solidFill>
                  <a:srgbClr val="183247"/>
                </a:solidFill>
                <a:latin typeface="Arial"/>
                <a:ea typeface="Arial"/>
                <a:cs typeface="Arial"/>
                <a:sym typeface="Arial"/>
              </a:rPr>
              <a:t> algorithm</a:t>
            </a:r>
            <a:endParaRPr/>
          </a:p>
        </p:txBody>
      </p:sp>
      <p:sp>
        <p:nvSpPr>
          <p:cNvPr id="49" name="Google Shape;49;p6"/>
          <p:cNvSpPr/>
          <p:nvPr/>
        </p:nvSpPr>
        <p:spPr>
          <a:xfrm>
            <a:off x="571500" y="1457325"/>
            <a:ext cx="55722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66A8F"/>
                </a:solidFill>
              </a:rPr>
              <a:t>Check ranges first, ensure it is valid, before performing the sort</a:t>
            </a:r>
            <a:endParaRPr/>
          </a:p>
        </p:txBody>
      </p:sp>
      <p:sp>
        <p:nvSpPr>
          <p:cNvPr id="50" name="Google Shape;50;p6"/>
          <p:cNvSpPr/>
          <p:nvPr/>
        </p:nvSpPr>
        <p:spPr>
          <a:xfrm>
            <a:off x="6743700" y="1457325"/>
            <a:ext cx="48579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C4532D"/>
                </a:solidFill>
              </a:rPr>
              <a:t>Insertion sort function</a:t>
            </a:r>
            <a:endParaRPr/>
          </a:p>
        </p:txBody>
      </p:sp>
      <p:sp>
        <p:nvSpPr>
          <p:cNvPr id="51" name="Google Shape;51;p6"/>
          <p:cNvSpPr/>
          <p:nvPr/>
        </p:nvSpPr>
        <p:spPr>
          <a:xfrm>
            <a:off x="11239500" y="6515100"/>
            <a:ext cx="6192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2</a:t>
            </a:r>
            <a:endParaRPr/>
          </a:p>
        </p:txBody>
      </p:sp>
      <p:pic>
        <p:nvPicPr>
          <p:cNvPr id="52" name="Google Shape;52;p6" title="slide-04-insertion_sort.png"/>
          <p:cNvPicPr preferRelativeResize="0"/>
          <p:nvPr/>
        </p:nvPicPr>
        <p:blipFill rotWithShape="1">
          <a:blip r:embed="rId3">
            <a:alphaModFix/>
          </a:blip>
          <a:srcRect b="10" l="0" r="0" t="0"/>
          <a:stretch/>
        </p:blipFill>
        <p:spPr>
          <a:xfrm>
            <a:off x="609650" y="2247900"/>
            <a:ext cx="5495927" cy="1760450"/>
          </a:xfrm>
          <a:prstGeom prst="rect">
            <a:avLst/>
          </a:prstGeom>
          <a:noFill/>
          <a:ln>
            <a:noFill/>
          </a:ln>
        </p:spPr>
      </p:pic>
      <p:pic>
        <p:nvPicPr>
          <p:cNvPr id="53" name="Google Shape;53;p6" title="slide-04-insert.png"/>
          <p:cNvPicPr preferRelativeResize="0"/>
          <p:nvPr/>
        </p:nvPicPr>
        <p:blipFill rotWithShape="1">
          <a:blip r:embed="rId4">
            <a:alphaModFix/>
          </a:blip>
          <a:srcRect b="20" l="0" r="0" t="30"/>
          <a:stretch/>
        </p:blipFill>
        <p:spPr>
          <a:xfrm>
            <a:off x="6743700" y="2247900"/>
            <a:ext cx="4456976" cy="2805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7"/>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The </a:t>
            </a:r>
            <a:r>
              <a:rPr b="1" lang="en-US" sz="3150">
                <a:solidFill>
                  <a:srgbClr val="183247"/>
                </a:solidFill>
              </a:rPr>
              <a:t>insertion sort</a:t>
            </a:r>
            <a:r>
              <a:rPr b="1" lang="en-US" sz="3150">
                <a:solidFill>
                  <a:srgbClr val="183247"/>
                </a:solidFill>
                <a:latin typeface="Arial"/>
                <a:ea typeface="Arial"/>
                <a:cs typeface="Arial"/>
                <a:sym typeface="Arial"/>
              </a:rPr>
              <a:t> algorithm (with key comparisons) </a:t>
            </a:r>
            <a:endParaRPr/>
          </a:p>
        </p:txBody>
      </p:sp>
      <p:sp>
        <p:nvSpPr>
          <p:cNvPr id="60" name="Google Shape;60;p7"/>
          <p:cNvSpPr/>
          <p:nvPr/>
        </p:nvSpPr>
        <p:spPr>
          <a:xfrm>
            <a:off x="571500" y="1457325"/>
            <a:ext cx="55722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66A8F"/>
                </a:solidFill>
              </a:rPr>
              <a:t>Check ranges first, ensure it is valid, before performing the sort</a:t>
            </a:r>
            <a:endParaRPr/>
          </a:p>
        </p:txBody>
      </p:sp>
      <p:sp>
        <p:nvSpPr>
          <p:cNvPr id="61" name="Google Shape;61;p7"/>
          <p:cNvSpPr/>
          <p:nvPr/>
        </p:nvSpPr>
        <p:spPr>
          <a:xfrm>
            <a:off x="6743700" y="1457325"/>
            <a:ext cx="48579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C4532D"/>
                </a:solidFill>
              </a:rPr>
              <a:t>Insertion sort function</a:t>
            </a:r>
            <a:endParaRPr/>
          </a:p>
        </p:txBody>
      </p:sp>
      <p:sp>
        <p:nvSpPr>
          <p:cNvPr id="62" name="Google Shape;62;p7"/>
          <p:cNvSpPr/>
          <p:nvPr/>
        </p:nvSpPr>
        <p:spPr>
          <a:xfrm>
            <a:off x="11239500" y="6515100"/>
            <a:ext cx="6192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2</a:t>
            </a:r>
            <a:endParaRPr/>
          </a:p>
        </p:txBody>
      </p:sp>
      <p:pic>
        <p:nvPicPr>
          <p:cNvPr id="63" name="Google Shape;63;p7" title="slide-05-insert_counted.png"/>
          <p:cNvPicPr preferRelativeResize="0"/>
          <p:nvPr/>
        </p:nvPicPr>
        <p:blipFill rotWithShape="1">
          <a:blip r:embed="rId3">
            <a:alphaModFix/>
          </a:blip>
          <a:srcRect b="0" l="10" r="10" t="0"/>
          <a:stretch/>
        </p:blipFill>
        <p:spPr>
          <a:xfrm>
            <a:off x="6367538" y="2124225"/>
            <a:ext cx="5610226" cy="3878950"/>
          </a:xfrm>
          <a:prstGeom prst="rect">
            <a:avLst/>
          </a:prstGeom>
          <a:noFill/>
          <a:ln>
            <a:noFill/>
          </a:ln>
        </p:spPr>
      </p:pic>
      <p:pic>
        <p:nvPicPr>
          <p:cNvPr id="64" name="Google Shape;64;p7" title="slide-05-insertion_sort_counted.png"/>
          <p:cNvPicPr preferRelativeResize="0"/>
          <p:nvPr/>
        </p:nvPicPr>
        <p:blipFill rotWithShape="1">
          <a:blip r:embed="rId4">
            <a:alphaModFix/>
          </a:blip>
          <a:srcRect b="30" l="0" r="0" t="30"/>
          <a:stretch/>
        </p:blipFill>
        <p:spPr>
          <a:xfrm>
            <a:off x="543000" y="2276625"/>
            <a:ext cx="5600700" cy="1709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8"/>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The hybrid algorithm </a:t>
            </a:r>
            <a:endParaRPr/>
          </a:p>
        </p:txBody>
      </p:sp>
      <p:sp>
        <p:nvSpPr>
          <p:cNvPr id="71" name="Google Shape;71;p8"/>
          <p:cNvSpPr/>
          <p:nvPr/>
        </p:nvSpPr>
        <p:spPr>
          <a:xfrm>
            <a:off x="571500" y="1457325"/>
            <a:ext cx="55722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66A8F"/>
                </a:solidFill>
                <a:latin typeface="Arial"/>
                <a:ea typeface="Arial"/>
                <a:cs typeface="Arial"/>
                <a:sym typeface="Arial"/>
              </a:rPr>
              <a:t>Stop splitting when the range has at most S items</a:t>
            </a:r>
            <a:endParaRPr/>
          </a:p>
        </p:txBody>
      </p:sp>
      <p:sp>
        <p:nvSpPr>
          <p:cNvPr id="72" name="Google Shape;72;p8"/>
          <p:cNvSpPr/>
          <p:nvPr/>
        </p:nvSpPr>
        <p:spPr>
          <a:xfrm>
            <a:off x="6743700" y="1457325"/>
            <a:ext cx="48579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C4532D"/>
                </a:solidFill>
                <a:latin typeface="Arial"/>
                <a:ea typeface="Arial"/>
                <a:cs typeface="Arial"/>
                <a:sym typeface="Arial"/>
              </a:rPr>
              <a:t>Worked example: S=3</a:t>
            </a:r>
            <a:endParaRPr/>
          </a:p>
        </p:txBody>
      </p:sp>
      <p:sp>
        <p:nvSpPr>
          <p:cNvPr id="73" name="Google Shape;73;p8"/>
          <p:cNvSpPr/>
          <p:nvPr/>
        </p:nvSpPr>
        <p:spPr>
          <a:xfrm>
            <a:off x="6743700" y="2247900"/>
            <a:ext cx="4857900" cy="371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83247"/>
                </a:solidFill>
                <a:latin typeface="Arial"/>
                <a:ea typeface="Arial"/>
                <a:cs typeface="Arial"/>
                <a:sym typeface="Arial"/>
              </a:rPr>
              <a:t>Input: [5, 2, 4, 1, 3, 6]</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Leaves: [5, 2, 4] and [1, 3, 6]</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Insertion: [2, 4, 5] and [1, 3, 6]</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Merge: [1, 2, 3, 4, 5, 6]</a:t>
            </a:r>
            <a:endParaRPr/>
          </a:p>
          <a:p>
            <a:pPr indent="0" lvl="0" marL="0" marR="0" rtl="0" algn="l">
              <a:spcBef>
                <a:spcPts val="0"/>
              </a:spcBef>
              <a:spcAft>
                <a:spcPts val="0"/>
              </a:spcAft>
              <a:buNone/>
            </a:pPr>
            <a:r>
              <a:t/>
            </a:r>
            <a:endParaRPr/>
          </a:p>
        </p:txBody>
      </p:sp>
      <p:sp>
        <p:nvSpPr>
          <p:cNvPr id="74" name="Google Shape;74;p8"/>
          <p:cNvSpPr/>
          <p:nvPr/>
        </p:nvSpPr>
        <p:spPr>
          <a:xfrm>
            <a:off x="11239500" y="6515100"/>
            <a:ext cx="6192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2</a:t>
            </a:r>
            <a:endParaRPr/>
          </a:p>
        </p:txBody>
      </p:sp>
      <p:pic>
        <p:nvPicPr>
          <p:cNvPr id="75" name="Google Shape;75;p8" title="slide-06-hybrid.png"/>
          <p:cNvPicPr preferRelativeResize="0"/>
          <p:nvPr/>
        </p:nvPicPr>
        <p:blipFill rotWithShape="1">
          <a:blip r:embed="rId3">
            <a:alphaModFix/>
          </a:blip>
          <a:srcRect b="0" l="0" r="0" t="10"/>
          <a:stretch/>
        </p:blipFill>
        <p:spPr>
          <a:xfrm>
            <a:off x="704088" y="3767328"/>
            <a:ext cx="4910675" cy="2967526"/>
          </a:xfrm>
          <a:prstGeom prst="rect">
            <a:avLst/>
          </a:prstGeom>
          <a:noFill/>
          <a:ln>
            <a:noFill/>
          </a:ln>
        </p:spPr>
      </p:pic>
      <p:pic>
        <p:nvPicPr>
          <p:cNvPr id="76" name="Google Shape;76;p8" title="slide-06-hybrid_sort.png"/>
          <p:cNvPicPr preferRelativeResize="0"/>
          <p:nvPr/>
        </p:nvPicPr>
        <p:blipFill rotWithShape="1">
          <a:blip r:embed="rId4">
            <a:alphaModFix/>
          </a:blip>
          <a:srcRect b="50" l="0" r="0" t="50"/>
          <a:stretch/>
        </p:blipFill>
        <p:spPr>
          <a:xfrm>
            <a:off x="701350" y="2247900"/>
            <a:ext cx="4910675" cy="1437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9"/>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The hybrid algorithm </a:t>
            </a:r>
            <a:r>
              <a:rPr b="1" lang="en-US" sz="3150">
                <a:solidFill>
                  <a:srgbClr val="183247"/>
                </a:solidFill>
              </a:rPr>
              <a:t>(with key comparisons)</a:t>
            </a:r>
            <a:endParaRPr/>
          </a:p>
        </p:txBody>
      </p:sp>
      <p:sp>
        <p:nvSpPr>
          <p:cNvPr id="83" name="Google Shape;83;p9"/>
          <p:cNvSpPr/>
          <p:nvPr/>
        </p:nvSpPr>
        <p:spPr>
          <a:xfrm>
            <a:off x="571500" y="1457325"/>
            <a:ext cx="5572125"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66A8F"/>
                </a:solidFill>
                <a:latin typeface="Arial"/>
                <a:ea typeface="Arial"/>
                <a:cs typeface="Arial"/>
                <a:sym typeface="Arial"/>
              </a:rPr>
              <a:t>Stop splitting when the range has at most S items</a:t>
            </a:r>
            <a:endParaRPr/>
          </a:p>
        </p:txBody>
      </p:sp>
      <p:sp>
        <p:nvSpPr>
          <p:cNvPr id="84" name="Google Shape;84;p9"/>
          <p:cNvSpPr/>
          <p:nvPr/>
        </p:nvSpPr>
        <p:spPr>
          <a:xfrm>
            <a:off x="6743700" y="1457325"/>
            <a:ext cx="48579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C4532D"/>
                </a:solidFill>
                <a:latin typeface="Arial"/>
                <a:ea typeface="Arial"/>
                <a:cs typeface="Arial"/>
                <a:sym typeface="Arial"/>
              </a:rPr>
              <a:t>Worked example: S=3</a:t>
            </a:r>
            <a:endParaRPr/>
          </a:p>
        </p:txBody>
      </p:sp>
      <p:sp>
        <p:nvSpPr>
          <p:cNvPr id="85" name="Google Shape;85;p9"/>
          <p:cNvSpPr/>
          <p:nvPr/>
        </p:nvSpPr>
        <p:spPr>
          <a:xfrm>
            <a:off x="6743700" y="2247900"/>
            <a:ext cx="4857900" cy="371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83247"/>
                </a:solidFill>
                <a:latin typeface="Arial"/>
                <a:ea typeface="Arial"/>
                <a:cs typeface="Arial"/>
                <a:sym typeface="Arial"/>
              </a:rPr>
              <a:t>Input: [5, 2, 4, 1, 3, 6]</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Leaves: [5, 2, 4] and [1, 3, 6]</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Insertion: [2, 4, 5] and [1, 3, 6]</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Merge: [1, 2, 3, 4, 5, 6]</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3 + 2 + 5 = 10 key comparisons</a:t>
            </a:r>
            <a:endParaRPr/>
          </a:p>
        </p:txBody>
      </p:sp>
      <p:sp>
        <p:nvSpPr>
          <p:cNvPr id="86" name="Google Shape;86;p9"/>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2</a:t>
            </a:r>
            <a:endParaRPr/>
          </a:p>
        </p:txBody>
      </p:sp>
      <p:pic>
        <p:nvPicPr>
          <p:cNvPr id="87" name="Google Shape;87;p9" title="slide-07-hybrid_sort_counted.png"/>
          <p:cNvPicPr preferRelativeResize="0"/>
          <p:nvPr/>
        </p:nvPicPr>
        <p:blipFill rotWithShape="1">
          <a:blip r:embed="rId3">
            <a:alphaModFix/>
          </a:blip>
          <a:srcRect b="0" l="150" r="140" t="0"/>
          <a:stretch/>
        </p:blipFill>
        <p:spPr>
          <a:xfrm>
            <a:off x="548798" y="2219325"/>
            <a:ext cx="5617525" cy="1554479"/>
          </a:xfrm>
          <a:prstGeom prst="rect">
            <a:avLst/>
          </a:prstGeom>
          <a:noFill/>
          <a:ln>
            <a:noFill/>
          </a:ln>
        </p:spPr>
      </p:pic>
      <p:pic>
        <p:nvPicPr>
          <p:cNvPr id="88" name="Google Shape;88;p9" title="slide-07-hybrid_counted.png"/>
          <p:cNvPicPr preferRelativeResize="0"/>
          <p:nvPr/>
        </p:nvPicPr>
        <p:blipFill rotWithShape="1">
          <a:blip r:embed="rId4">
            <a:alphaModFix/>
          </a:blip>
          <a:srcRect b="0" l="50" r="60" t="0"/>
          <a:stretch/>
        </p:blipFill>
        <p:spPr>
          <a:xfrm>
            <a:off x="548800" y="3822192"/>
            <a:ext cx="5617525" cy="285292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10"/>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Correctness, counting and fair timing</a:t>
            </a:r>
            <a:endParaRPr/>
          </a:p>
        </p:txBody>
      </p:sp>
      <p:sp>
        <p:nvSpPr>
          <p:cNvPr id="95" name="Google Shape;95;p10"/>
          <p:cNvSpPr/>
          <p:nvPr/>
        </p:nvSpPr>
        <p:spPr>
          <a:xfrm>
            <a:off x="571500" y="1524000"/>
            <a:ext cx="523875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166A8F"/>
                </a:solidFill>
                <a:latin typeface="Arial"/>
                <a:ea typeface="Arial"/>
                <a:cs typeface="Arial"/>
                <a:sym typeface="Arial"/>
              </a:rPr>
              <a:t>Correctness and counting</a:t>
            </a:r>
            <a:endParaRPr/>
          </a:p>
        </p:txBody>
      </p:sp>
      <p:sp>
        <p:nvSpPr>
          <p:cNvPr id="96" name="Google Shape;96;p10"/>
          <p:cNvSpPr/>
          <p:nvPr/>
        </p:nvSpPr>
        <p:spPr>
          <a:xfrm>
            <a:off x="571500" y="2209800"/>
            <a:ext cx="5238750" cy="3857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83247"/>
                </a:solidFill>
                <a:latin typeface="Arial"/>
                <a:ea typeface="Arial"/>
                <a:cs typeface="Arial"/>
                <a:sym typeface="Arial"/>
              </a:rPr>
              <a:t>Insertion maintains a sorted prefix.</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Merge emits the smallest remaining head.</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Induction gives a sorted, stable result.</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Count each evaluated data comparison:</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merge &lt;= and insertion &gt;.</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Include terminating false comparisons.</a:t>
            </a:r>
            <a:endParaRPr/>
          </a:p>
        </p:txBody>
      </p:sp>
      <p:sp>
        <p:nvSpPr>
          <p:cNvPr id="97" name="Google Shape;97;p10"/>
          <p:cNvSpPr/>
          <p:nvPr/>
        </p:nvSpPr>
        <p:spPr>
          <a:xfrm>
            <a:off x="6448425" y="1524000"/>
            <a:ext cx="519112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C4532D"/>
                </a:solidFill>
                <a:latin typeface="Arial"/>
                <a:ea typeface="Arial"/>
                <a:cs typeface="Arial"/>
                <a:sym typeface="Arial"/>
              </a:rPr>
              <a:t>Experiment protocol</a:t>
            </a:r>
            <a:endParaRPr/>
          </a:p>
        </p:txBody>
      </p:sp>
      <p:sp>
        <p:nvSpPr>
          <p:cNvPr id="98" name="Google Shape;98;p10"/>
          <p:cNvSpPr/>
          <p:nvPr/>
        </p:nvSpPr>
        <p:spPr>
          <a:xfrm>
            <a:off x="6448425" y="2209800"/>
            <a:ext cx="5191125" cy="3857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83247"/>
                </a:solidFill>
                <a:latin typeface="Arial"/>
                <a:ea typeface="Arial"/>
                <a:cs typeface="Arial"/>
                <a:sym typeface="Arial"/>
              </a:rPr>
              <a:t>Uniform integers in [1, 1,000,000].</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Three seeds per case, paired inputs.</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Separate counted and uncounted runs.</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CPU clock: time.process_time().</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Exclude RNG, copies, buffer allocation,</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validation and I/O. Run sequentially.</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Verify order, length and exact histogram.</a:t>
            </a:r>
            <a:endParaRPr/>
          </a:p>
        </p:txBody>
      </p:sp>
      <p:sp>
        <p:nvSpPr>
          <p:cNvPr id="99" name="Google Shape;99;p10"/>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1"/>
          <p:cNvSpPr/>
          <p:nvPr/>
        </p:nvSpPr>
        <p:spPr>
          <a:xfrm>
            <a:off x="571500" y="333375"/>
            <a:ext cx="11049000" cy="570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83247"/>
                </a:solidFill>
              </a:rPr>
              <a:t>Input Data - Random Dataset Generation</a:t>
            </a:r>
            <a:endParaRPr sz="3200"/>
          </a:p>
        </p:txBody>
      </p:sp>
      <p:sp>
        <p:nvSpPr>
          <p:cNvPr id="106" name="Google Shape;106;p11"/>
          <p:cNvSpPr/>
          <p:nvPr/>
        </p:nvSpPr>
        <p:spPr>
          <a:xfrm>
            <a:off x="571500" y="904275"/>
            <a:ext cx="112872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166A8F"/>
                </a:solidFill>
              </a:rPr>
              <a:t>Generation of array in increasing size from 1,000 to 10 million in the range of [1, x]</a:t>
            </a:r>
            <a:endParaRPr b="1" sz="2000"/>
          </a:p>
        </p:txBody>
      </p:sp>
      <p:sp>
        <p:nvSpPr>
          <p:cNvPr id="107" name="Google Shape;107;p11"/>
          <p:cNvSpPr/>
          <p:nvPr/>
        </p:nvSpPr>
        <p:spPr>
          <a:xfrm>
            <a:off x="571500" y="2071750"/>
            <a:ext cx="5517300" cy="170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600" u="sng"/>
              <a:t>Random Dataset</a:t>
            </a:r>
            <a:endParaRPr b="1" sz="1600" u="sng"/>
          </a:p>
          <a:p>
            <a:pPr indent="0" lvl="0" marL="0" rtl="0" algn="l">
              <a:spcBef>
                <a:spcPts val="0"/>
              </a:spcBef>
              <a:spcAft>
                <a:spcPts val="0"/>
              </a:spcAft>
              <a:buNone/>
            </a:pPr>
            <a:r>
              <a:t/>
            </a:r>
            <a:endParaRPr b="1"/>
          </a:p>
          <a:p>
            <a:pPr indent="0" lvl="0" marL="0" rtl="0" algn="l">
              <a:spcBef>
                <a:spcPts val="0"/>
              </a:spcBef>
              <a:spcAft>
                <a:spcPts val="0"/>
              </a:spcAft>
              <a:buNone/>
            </a:pPr>
            <a:r>
              <a:rPr lang="en-US"/>
              <a:t>array = [random.randint(1, 100) for _ in range(1000)]</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US">
                <a:solidFill>
                  <a:schemeClr val="dk1"/>
                </a:solidFill>
              </a:rPr>
              <a:t>Run 1:</a:t>
            </a:r>
            <a:r>
              <a:rPr lang="en-US">
                <a:solidFill>
                  <a:schemeClr val="dk1"/>
                </a:solidFill>
              </a:rPr>
              <a:t> [51, 82, 23, 41, …, 3]</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Font typeface="Arial"/>
              <a:buNone/>
            </a:pPr>
            <a:r>
              <a:rPr b="1" lang="en-US">
                <a:solidFill>
                  <a:schemeClr val="dk1"/>
                </a:solidFill>
              </a:rPr>
              <a:t>Run 2:</a:t>
            </a:r>
            <a:r>
              <a:rPr lang="en-US">
                <a:solidFill>
                  <a:schemeClr val="dk1"/>
                </a:solidFill>
              </a:rPr>
              <a:t> [44, 14, 66, 59, …, 7]</a:t>
            </a:r>
            <a:endParaRPr>
              <a:solidFill>
                <a:schemeClr val="dk1"/>
              </a:solidFill>
            </a:endParaRPr>
          </a:p>
        </p:txBody>
      </p:sp>
      <p:sp>
        <p:nvSpPr>
          <p:cNvPr id="108" name="Google Shape;108;p11"/>
          <p:cNvSpPr/>
          <p:nvPr/>
        </p:nvSpPr>
        <p:spPr>
          <a:xfrm>
            <a:off x="571500" y="1314188"/>
            <a:ext cx="114126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rgbClr val="C4532D"/>
                </a:solidFill>
              </a:rPr>
              <a:t>For this experiment</a:t>
            </a:r>
            <a:r>
              <a:rPr lang="en-US" sz="2000">
                <a:solidFill>
                  <a:srgbClr val="C4532D"/>
                </a:solidFill>
              </a:rPr>
              <a:t>, we set x to 1000000 (1 million). So [1, 1000000].</a:t>
            </a:r>
            <a:endParaRPr sz="2000">
              <a:solidFill>
                <a:srgbClr val="C4532D"/>
              </a:solidFill>
            </a:endParaRPr>
          </a:p>
        </p:txBody>
      </p:sp>
      <p:sp>
        <p:nvSpPr>
          <p:cNvPr id="109" name="Google Shape;109;p11"/>
          <p:cNvSpPr/>
          <p:nvPr/>
        </p:nvSpPr>
        <p:spPr>
          <a:xfrm>
            <a:off x="6405900" y="2071750"/>
            <a:ext cx="5452800" cy="1703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u="sng"/>
              <a:t>WHY FIXED SEED?</a:t>
            </a:r>
            <a:endParaRPr b="1" u="sng"/>
          </a:p>
          <a:p>
            <a:pPr indent="0" lvl="0" marL="0" marR="0" rtl="0" algn="l">
              <a:spcBef>
                <a:spcPts val="0"/>
              </a:spcBef>
              <a:spcAft>
                <a:spcPts val="0"/>
              </a:spcAft>
              <a:buNone/>
            </a:pPr>
            <a:r>
              <a:t/>
            </a:r>
            <a:endParaRPr b="1" u="sng"/>
          </a:p>
          <a:p>
            <a:pPr indent="0" lvl="0" marL="0" marR="0" rtl="0" algn="l">
              <a:spcBef>
                <a:spcPts val="0"/>
              </a:spcBef>
              <a:spcAft>
                <a:spcPts val="0"/>
              </a:spcAft>
              <a:buNone/>
            </a:pPr>
            <a:r>
              <a:rPr lang="en-US"/>
              <a:t>Same code != same data</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Different data can affect performance</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Makes comparison of different S </a:t>
            </a:r>
            <a:r>
              <a:rPr lang="en-US"/>
              <a:t>values</a:t>
            </a:r>
            <a:r>
              <a:rPr lang="en-US"/>
              <a:t> unreliable</a:t>
            </a:r>
            <a:endParaRPr/>
          </a:p>
        </p:txBody>
      </p:sp>
      <p:sp>
        <p:nvSpPr>
          <p:cNvPr id="110" name="Google Shape;110;p11"/>
          <p:cNvSpPr/>
          <p:nvPr/>
        </p:nvSpPr>
        <p:spPr>
          <a:xfrm>
            <a:off x="11239500" y="6515100"/>
            <a:ext cx="6192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2</a:t>
            </a:r>
            <a:endParaRPr/>
          </a:p>
        </p:txBody>
      </p:sp>
      <p:sp>
        <p:nvSpPr>
          <p:cNvPr id="111" name="Google Shape;111;p11"/>
          <p:cNvSpPr/>
          <p:nvPr/>
        </p:nvSpPr>
        <p:spPr>
          <a:xfrm>
            <a:off x="3519150" y="4009200"/>
            <a:ext cx="5517300" cy="170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600" u="sng"/>
              <a:t>SOLUTION:</a:t>
            </a:r>
            <a:r>
              <a:rPr lang="en-US" sz="1600"/>
              <a:t> random.seed(seed)</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12"/>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Fixed S retains n log n growth</a:t>
            </a:r>
            <a:endParaRPr/>
          </a:p>
        </p:txBody>
      </p:sp>
      <p:pic>
        <p:nvPicPr>
          <p:cNvPr id="118" name="Google Shape;118;p12"/>
          <p:cNvPicPr preferRelativeResize="0"/>
          <p:nvPr/>
        </p:nvPicPr>
        <p:blipFill rotWithShape="1">
          <a:blip r:embed="rId3">
            <a:alphaModFix/>
          </a:blip>
          <a:srcRect b="0" l="0" r="0" t="0"/>
          <a:stretch/>
        </p:blipFill>
        <p:spPr>
          <a:xfrm>
            <a:off x="381000" y="1476375"/>
            <a:ext cx="7524900" cy="4238700"/>
          </a:xfrm>
          <a:prstGeom prst="rect">
            <a:avLst/>
          </a:prstGeom>
          <a:noFill/>
          <a:ln>
            <a:noFill/>
          </a:ln>
        </p:spPr>
      </p:pic>
      <p:sp>
        <p:nvSpPr>
          <p:cNvPr id="119" name="Google Shape;119;p12"/>
          <p:cNvSpPr/>
          <p:nvPr/>
        </p:nvSpPr>
        <p:spPr>
          <a:xfrm>
            <a:off x="8191500" y="1609725"/>
            <a:ext cx="3381375" cy="428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83247"/>
                </a:solidFill>
                <a:latin typeface="Arial"/>
                <a:ea typeface="Arial"/>
                <a:cs typeface="Arial"/>
                <a:sym typeface="Arial"/>
              </a:rPr>
              <a:t>Original</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T(n) = 2T(n/2) + Theta(n)</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Time: Theta(n log n)</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Buffer: Theta(n)</a:t>
            </a:r>
            <a:endParaRPr/>
          </a:p>
          <a:p>
            <a:pPr indent="0" lvl="0" marL="0" marR="0" rtl="0" algn="l">
              <a:spcBef>
                <a:spcPts val="0"/>
              </a:spcBef>
              <a:spcAft>
                <a:spcPts val="0"/>
              </a:spcAft>
              <a:buNone/>
            </a:pPr>
            <a:r>
              <a:t/>
            </a:r>
            <a:endParaRPr b="0" sz="1875">
              <a:solidFill>
                <a:srgbClr val="183247"/>
              </a:solidFill>
              <a:latin typeface="Arial"/>
              <a:ea typeface="Arial"/>
              <a:cs typeface="Arial"/>
              <a:sym typeface="Arial"/>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Hybrid</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About log2(n/S) merge levels</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Random leaf work: Theta(nS)</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Fixed S: Theta(n log n)</a:t>
            </a:r>
            <a:endParaRPr/>
          </a:p>
        </p:txBody>
      </p:sp>
      <p:sp>
        <p:nvSpPr>
          <p:cNvPr id="120" name="Google Shape;120;p12"/>
          <p:cNvSpPr/>
          <p:nvPr/>
        </p:nvSpPr>
        <p:spPr>
          <a:xfrm>
            <a:off x="600075" y="6019800"/>
            <a:ext cx="1090612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48616E"/>
                </a:solidFill>
                <a:latin typeface="Arial"/>
                <a:ea typeface="Arial"/>
                <a:cs typeface="Arial"/>
                <a:sym typeface="Arial"/>
              </a:rPr>
              <a:t>Both axes show log10 values. Analytical counts use actual rounded splits with no fitted scale factor.</a:t>
            </a:r>
            <a:endParaRPr/>
          </a:p>
        </p:txBody>
      </p:sp>
      <p:sp>
        <p:nvSpPr>
          <p:cNvPr id="121" name="Google Shape;121;p12"/>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13"/>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Increasing S changes the leaf work</a:t>
            </a:r>
            <a:endParaRPr/>
          </a:p>
        </p:txBody>
      </p:sp>
      <p:pic>
        <p:nvPicPr>
          <p:cNvPr id="128" name="Google Shape;128;p13"/>
          <p:cNvPicPr preferRelativeResize="0"/>
          <p:nvPr/>
        </p:nvPicPr>
        <p:blipFill rotWithShape="1">
          <a:blip r:embed="rId3">
            <a:alphaModFix/>
          </a:blip>
          <a:srcRect b="0" l="0" r="0" t="0"/>
          <a:stretch/>
        </p:blipFill>
        <p:spPr>
          <a:xfrm>
            <a:off x="381000" y="1476375"/>
            <a:ext cx="7524750" cy="4238625"/>
          </a:xfrm>
          <a:prstGeom prst="rect">
            <a:avLst/>
          </a:prstGeom>
          <a:noFill/>
          <a:ln>
            <a:noFill/>
          </a:ln>
        </p:spPr>
      </p:pic>
      <p:sp>
        <p:nvSpPr>
          <p:cNvPr id="129" name="Google Shape;129;p13"/>
          <p:cNvSpPr/>
          <p:nvPr/>
        </p:nvSpPr>
        <p:spPr>
          <a:xfrm>
            <a:off x="8191500" y="1609725"/>
            <a:ext cx="3381375" cy="428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83247"/>
                </a:solidFill>
                <a:latin typeface="Arial"/>
                <a:ea typeface="Arial"/>
                <a:cs typeface="Arial"/>
                <a:sym typeface="Arial"/>
              </a:rPr>
              <a:t>Fewer merge levels</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Larger insertion leaves</a:t>
            </a:r>
            <a:endParaRPr/>
          </a:p>
          <a:p>
            <a:pPr indent="0" lvl="0" marL="0" marR="0" rtl="0" algn="l">
              <a:spcBef>
                <a:spcPts val="0"/>
              </a:spcBef>
              <a:spcAft>
                <a:spcPts val="0"/>
              </a:spcAft>
              <a:buNone/>
            </a:pPr>
            <a:r>
              <a:t/>
            </a:r>
            <a:endParaRPr b="0" sz="1875">
              <a:solidFill>
                <a:srgbClr val="183247"/>
              </a:solidFill>
              <a:latin typeface="Arial"/>
              <a:ea typeface="Arial"/>
              <a:cs typeface="Arial"/>
              <a:sym typeface="Arial"/>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Random insertion: Theta(S^2) per leaf</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About n/S leaves</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Total leaf work: Theta(nS)</a:t>
            </a:r>
            <a:endParaRPr/>
          </a:p>
          <a:p>
            <a:pPr indent="0" lvl="0" marL="0" marR="0" rtl="0" algn="l">
              <a:spcBef>
                <a:spcPts val="0"/>
              </a:spcBef>
              <a:spcAft>
                <a:spcPts val="0"/>
              </a:spcAft>
              <a:buNone/>
            </a:pPr>
            <a:r>
              <a:t/>
            </a:r>
            <a:endParaRPr b="0" sz="1875">
              <a:solidFill>
                <a:srgbClr val="183247"/>
              </a:solidFill>
              <a:latin typeface="Arial"/>
              <a:ea typeface="Arial"/>
              <a:cs typeface="Arial"/>
              <a:sym typeface="Arial"/>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Some S values share the same leaves.</a:t>
            </a:r>
            <a:endParaRPr/>
          </a:p>
          <a:p>
            <a:pPr indent="0" lvl="0" marL="0" marR="0" rtl="0" algn="l">
              <a:spcBef>
                <a:spcPts val="0"/>
              </a:spcBef>
              <a:spcAft>
                <a:spcPts val="0"/>
              </a:spcAft>
              <a:buNone/>
            </a:pPr>
            <a:r>
              <a:rPr b="0" lang="en-US" sz="1875">
                <a:solidFill>
                  <a:srgbClr val="183247"/>
                </a:solidFill>
                <a:latin typeface="Arial"/>
                <a:ea typeface="Arial"/>
                <a:cs typeface="Arial"/>
                <a:sym typeface="Arial"/>
              </a:rPr>
              <a:t>Plateaus are expected.</a:t>
            </a:r>
            <a:endParaRPr/>
          </a:p>
        </p:txBody>
      </p:sp>
      <p:sp>
        <p:nvSpPr>
          <p:cNvPr id="130" name="Google Shape;130;p13"/>
          <p:cNvSpPr/>
          <p:nvPr/>
        </p:nvSpPr>
        <p:spPr>
          <a:xfrm>
            <a:off x="600075" y="6019800"/>
            <a:ext cx="1090612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48616E"/>
                </a:solidFill>
                <a:latin typeface="Arial"/>
                <a:ea typeface="Arial"/>
                <a:cs typeface="Arial"/>
                <a:sym typeface="Arial"/>
              </a:rPr>
              <a:t>S=1 is included. Medians of three seeds. Full plots also show ranges and the worst-case bound.</a:t>
            </a:r>
            <a:endParaRPr/>
          </a:p>
        </p:txBody>
      </p:sp>
      <p:sp>
        <p:nvSpPr>
          <p:cNvPr id="131" name="Google Shape;131;p13"/>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14"/>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CPU tuning selected S=12 by the tie-break rule</a:t>
            </a:r>
            <a:endParaRPr/>
          </a:p>
        </p:txBody>
      </p:sp>
      <p:pic>
        <p:nvPicPr>
          <p:cNvPr id="138" name="Google Shape;138;p14"/>
          <p:cNvPicPr preferRelativeResize="0"/>
          <p:nvPr/>
        </p:nvPicPr>
        <p:blipFill rotWithShape="1">
          <a:blip r:embed="rId3">
            <a:alphaModFix/>
          </a:blip>
          <a:srcRect b="0" l="0" r="0" t="0"/>
          <a:stretch/>
        </p:blipFill>
        <p:spPr>
          <a:xfrm>
            <a:off x="381000" y="1504950"/>
            <a:ext cx="5572125" cy="4286250"/>
          </a:xfrm>
          <a:prstGeom prst="rect">
            <a:avLst/>
          </a:prstGeom>
          <a:noFill/>
          <a:ln>
            <a:noFill/>
          </a:ln>
        </p:spPr>
      </p:pic>
      <p:pic>
        <p:nvPicPr>
          <p:cNvPr id="139" name="Google Shape;139;p14"/>
          <p:cNvPicPr preferRelativeResize="0"/>
          <p:nvPr/>
        </p:nvPicPr>
        <p:blipFill rotWithShape="1">
          <a:blip r:embed="rId4">
            <a:alphaModFix/>
          </a:blip>
          <a:srcRect b="0" l="0" r="0" t="0"/>
          <a:stretch/>
        </p:blipFill>
        <p:spPr>
          <a:xfrm>
            <a:off x="6238875" y="1504950"/>
            <a:ext cx="5572125" cy="4286250"/>
          </a:xfrm>
          <a:prstGeom prst="rect">
            <a:avLst/>
          </a:prstGeom>
          <a:noFill/>
          <a:ln>
            <a:noFill/>
          </a:ln>
        </p:spPr>
      </p:pic>
      <p:sp>
        <p:nvSpPr>
          <p:cNvPr id="140" name="Google Shape;140;p14"/>
          <p:cNvSpPr/>
          <p:nvPr/>
        </p:nvSpPr>
        <p:spPr>
          <a:xfrm>
            <a:off x="600075" y="6019800"/>
            <a:ext cx="1090612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48616E"/>
                </a:solidFill>
                <a:latin typeface="Arial"/>
                <a:ea typeface="Arial"/>
                <a:cs typeface="Arial"/>
                <a:sym typeface="Arial"/>
              </a:rPr>
              <a:t>S=12, 32 tied at 2.78125 s median. The rule chooses smaller S. Three seeds per case.</a:t>
            </a:r>
            <a:endParaRPr/>
          </a:p>
        </p:txBody>
      </p:sp>
      <p:sp>
        <p:nvSpPr>
          <p:cNvPr id="141" name="Google Shape;141;p14"/>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15"/>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Original and hybrid on 10 million integers</a:t>
            </a:r>
            <a:endParaRPr b="1" sz="3150">
              <a:solidFill>
                <a:srgbClr val="183247"/>
              </a:solidFill>
              <a:latin typeface="Arial"/>
              <a:ea typeface="Arial"/>
              <a:cs typeface="Arial"/>
              <a:sym typeface="Arial"/>
            </a:endParaRPr>
          </a:p>
          <a:p>
            <a:pPr indent="0" lvl="0" marL="0" marR="0" rtl="0" algn="l">
              <a:spcBef>
                <a:spcPts val="0"/>
              </a:spcBef>
              <a:spcAft>
                <a:spcPts val="0"/>
              </a:spcAft>
              <a:buNone/>
            </a:pPr>
            <a:r>
              <a:t/>
            </a:r>
            <a:endParaRPr b="1" sz="3150">
              <a:solidFill>
                <a:srgbClr val="183247"/>
              </a:solidFill>
            </a:endParaRPr>
          </a:p>
        </p:txBody>
      </p:sp>
      <p:pic>
        <p:nvPicPr>
          <p:cNvPr id="148" name="Google Shape;148;p15"/>
          <p:cNvPicPr preferRelativeResize="0"/>
          <p:nvPr/>
        </p:nvPicPr>
        <p:blipFill rotWithShape="1">
          <a:blip r:embed="rId3">
            <a:alphaModFix/>
          </a:blip>
          <a:srcRect b="0" l="0" r="0" t="0"/>
          <a:stretch/>
        </p:blipFill>
        <p:spPr>
          <a:xfrm>
            <a:off x="381000" y="1504950"/>
            <a:ext cx="5572125" cy="4286250"/>
          </a:xfrm>
          <a:prstGeom prst="rect">
            <a:avLst/>
          </a:prstGeom>
          <a:noFill/>
          <a:ln>
            <a:noFill/>
          </a:ln>
        </p:spPr>
      </p:pic>
      <p:pic>
        <p:nvPicPr>
          <p:cNvPr id="149" name="Google Shape;149;p15"/>
          <p:cNvPicPr preferRelativeResize="0"/>
          <p:nvPr/>
        </p:nvPicPr>
        <p:blipFill rotWithShape="1">
          <a:blip r:embed="rId4">
            <a:alphaModFix/>
          </a:blip>
          <a:srcRect b="0" l="0" r="0" t="0"/>
          <a:stretch/>
        </p:blipFill>
        <p:spPr>
          <a:xfrm>
            <a:off x="6238875" y="1504950"/>
            <a:ext cx="5572125" cy="4286250"/>
          </a:xfrm>
          <a:prstGeom prst="rect">
            <a:avLst/>
          </a:prstGeom>
          <a:noFill/>
          <a:ln>
            <a:noFill/>
          </a:ln>
        </p:spPr>
      </p:pic>
      <p:sp>
        <p:nvSpPr>
          <p:cNvPr id="150" name="Google Shape;150;p15"/>
          <p:cNvSpPr/>
          <p:nvPr/>
        </p:nvSpPr>
        <p:spPr>
          <a:xfrm>
            <a:off x="666675" y="5791200"/>
            <a:ext cx="55722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rgbClr val="48616E"/>
                </a:solidFill>
              </a:rPr>
              <a:t>O</a:t>
            </a:r>
            <a:r>
              <a:rPr b="0" lang="en-US" sz="1500">
                <a:solidFill>
                  <a:srgbClr val="48616E"/>
                </a:solidFill>
                <a:latin typeface="Arial"/>
                <a:ea typeface="Arial"/>
                <a:cs typeface="Arial"/>
                <a:sym typeface="Arial"/>
              </a:rPr>
              <a:t>riginal median</a:t>
            </a:r>
            <a:r>
              <a:rPr lang="en-US" sz="1500">
                <a:solidFill>
                  <a:srgbClr val="48616E"/>
                </a:solidFill>
              </a:rPr>
              <a:t>:</a:t>
            </a:r>
            <a:r>
              <a:rPr b="0" lang="en-US" sz="1500">
                <a:solidFill>
                  <a:srgbClr val="48616E"/>
                </a:solidFill>
                <a:latin typeface="Arial"/>
                <a:ea typeface="Arial"/>
                <a:cs typeface="Arial"/>
                <a:sym typeface="Arial"/>
              </a:rPr>
              <a:t>9</a:t>
            </a:r>
            <a:r>
              <a:rPr lang="en-US" sz="1500">
                <a:solidFill>
                  <a:srgbClr val="48616E"/>
                </a:solidFill>
              </a:rPr>
              <a:t>2.09</a:t>
            </a:r>
            <a:r>
              <a:rPr b="0" lang="en-US" sz="1500">
                <a:solidFill>
                  <a:srgbClr val="48616E"/>
                </a:solidFill>
                <a:latin typeface="Arial"/>
                <a:ea typeface="Arial"/>
                <a:cs typeface="Arial"/>
                <a:sym typeface="Arial"/>
              </a:rPr>
              <a:t> s </a:t>
            </a:r>
            <a:endParaRPr b="0" sz="1500">
              <a:solidFill>
                <a:srgbClr val="48616E"/>
              </a:solidFill>
              <a:latin typeface="Arial"/>
              <a:ea typeface="Arial"/>
              <a:cs typeface="Arial"/>
              <a:sym typeface="Arial"/>
            </a:endParaRPr>
          </a:p>
          <a:p>
            <a:pPr indent="0" lvl="0" marL="0" marR="0" rtl="0" algn="l">
              <a:spcBef>
                <a:spcPts val="0"/>
              </a:spcBef>
              <a:spcAft>
                <a:spcPts val="0"/>
              </a:spcAft>
              <a:buNone/>
            </a:pPr>
            <a:r>
              <a:rPr lang="en-US" sz="1500">
                <a:solidFill>
                  <a:srgbClr val="48616E"/>
                </a:solidFill>
              </a:rPr>
              <a:t>H</a:t>
            </a:r>
            <a:r>
              <a:rPr b="0" lang="en-US" sz="1500">
                <a:solidFill>
                  <a:srgbClr val="48616E"/>
                </a:solidFill>
                <a:latin typeface="Arial"/>
                <a:ea typeface="Arial"/>
                <a:cs typeface="Arial"/>
                <a:sym typeface="Arial"/>
              </a:rPr>
              <a:t>ybrid</a:t>
            </a:r>
            <a:r>
              <a:rPr lang="en-US" sz="1500">
                <a:solidFill>
                  <a:srgbClr val="48616E"/>
                </a:solidFill>
              </a:rPr>
              <a:t> m</a:t>
            </a:r>
            <a:r>
              <a:rPr b="0" lang="en-US" sz="1500">
                <a:solidFill>
                  <a:srgbClr val="48616E"/>
                </a:solidFill>
                <a:latin typeface="Arial"/>
                <a:ea typeface="Arial"/>
                <a:cs typeface="Arial"/>
                <a:sym typeface="Arial"/>
              </a:rPr>
              <a:t>edian:94.08</a:t>
            </a:r>
            <a:r>
              <a:rPr lang="en-US" sz="1500">
                <a:solidFill>
                  <a:srgbClr val="48616E"/>
                </a:solidFill>
              </a:rPr>
              <a:t> s</a:t>
            </a:r>
            <a:r>
              <a:rPr b="0" lang="en-US" sz="1500">
                <a:solidFill>
                  <a:srgbClr val="48616E"/>
                </a:solidFill>
                <a:latin typeface="Arial"/>
                <a:ea typeface="Arial"/>
                <a:cs typeface="Arial"/>
                <a:sym typeface="Arial"/>
              </a:rPr>
              <a:t> </a:t>
            </a:r>
            <a:endParaRPr b="0" sz="1500">
              <a:solidFill>
                <a:srgbClr val="48616E"/>
              </a:solidFill>
              <a:latin typeface="Arial"/>
              <a:ea typeface="Arial"/>
              <a:cs typeface="Arial"/>
              <a:sym typeface="Arial"/>
            </a:endParaRPr>
          </a:p>
          <a:p>
            <a:pPr indent="0" lvl="0" marL="0" marR="0" rtl="0" algn="l">
              <a:spcBef>
                <a:spcPts val="0"/>
              </a:spcBef>
              <a:spcAft>
                <a:spcPts val="0"/>
              </a:spcAft>
              <a:buNone/>
            </a:pPr>
            <a:r>
              <a:t/>
            </a:r>
            <a:endParaRPr/>
          </a:p>
        </p:txBody>
      </p:sp>
      <p:sp>
        <p:nvSpPr>
          <p:cNvPr id="151" name="Google Shape;151;p15"/>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7</a:t>
            </a:r>
            <a:endParaRPr/>
          </a:p>
        </p:txBody>
      </p:sp>
      <p:sp>
        <p:nvSpPr>
          <p:cNvPr id="152" name="Google Shape;152;p15"/>
          <p:cNvSpPr txBox="1"/>
          <p:nvPr/>
        </p:nvSpPr>
        <p:spPr>
          <a:xfrm>
            <a:off x="600075" y="790575"/>
            <a:ext cx="110490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t>Evaluated on 3 independent random seeds (n~10000000, x=1000000), optimal S=12 from Part (c) </a:t>
            </a:r>
            <a:endParaRPr sz="1600"/>
          </a:p>
        </p:txBody>
      </p:sp>
      <p:sp>
        <p:nvSpPr>
          <p:cNvPr id="153" name="Google Shape;153;p15"/>
          <p:cNvSpPr txBox="1"/>
          <p:nvPr/>
        </p:nvSpPr>
        <p:spPr>
          <a:xfrm>
            <a:off x="7010275" y="5791200"/>
            <a:ext cx="4029300" cy="6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48616E"/>
                </a:solidFill>
              </a:rPr>
              <a:t>Original:~220.1 M comparisons </a:t>
            </a:r>
            <a:endParaRPr sz="1500">
              <a:solidFill>
                <a:srgbClr val="48616E"/>
              </a:solidFill>
            </a:endParaRPr>
          </a:p>
          <a:p>
            <a:pPr indent="0" lvl="0" marL="0" rtl="0" algn="l">
              <a:spcBef>
                <a:spcPts val="0"/>
              </a:spcBef>
              <a:spcAft>
                <a:spcPts val="0"/>
              </a:spcAft>
              <a:buNone/>
            </a:pPr>
            <a:r>
              <a:rPr lang="en-US" sz="1500">
                <a:solidFill>
                  <a:srgbClr val="48616E"/>
                </a:solidFill>
              </a:rPr>
              <a:t>Hybrid:~226.4 M comparisons </a:t>
            </a:r>
            <a:endParaRPr sz="1800">
              <a:solidFill>
                <a:srgbClr val="48616E"/>
              </a:solidFill>
            </a:endParaRPr>
          </a:p>
        </p:txBody>
      </p:sp>
      <p:sp>
        <p:nvSpPr>
          <p:cNvPr id="154" name="Google Shape;154;p15"/>
          <p:cNvSpPr txBox="1"/>
          <p:nvPr/>
        </p:nvSpPr>
        <p:spPr>
          <a:xfrm>
            <a:off x="5198300" y="6419600"/>
            <a:ext cx="2792400" cy="41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chemeClr val="dk1"/>
                </a:solidFill>
              </a:rPr>
              <a:t>Speedup</a:t>
            </a:r>
            <a:r>
              <a:rPr lang="en-US" sz="1900">
                <a:solidFill>
                  <a:schemeClr val="dk1"/>
                </a:solidFill>
              </a:rPr>
              <a:t>: </a:t>
            </a:r>
            <a:r>
              <a:rPr b="1" lang="en-US" sz="1900">
                <a:solidFill>
                  <a:schemeClr val="dk1"/>
                </a:solidFill>
              </a:rPr>
              <a:t>0.929x</a:t>
            </a:r>
            <a:endParaRPr sz="2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txBox="1"/>
          <p:nvPr/>
        </p:nvSpPr>
        <p:spPr>
          <a:xfrm>
            <a:off x="508000" y="304075"/>
            <a:ext cx="8533500" cy="10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150"/>
              <a:t>Why Hybrid Lost in Python?</a:t>
            </a:r>
            <a:r>
              <a:rPr b="1" lang="en-US" sz="2900"/>
              <a:t> </a:t>
            </a:r>
            <a:endParaRPr b="1" sz="2900"/>
          </a:p>
        </p:txBody>
      </p:sp>
      <p:sp>
        <p:nvSpPr>
          <p:cNvPr id="161" name="Google Shape;161;p16"/>
          <p:cNvSpPr txBox="1"/>
          <p:nvPr/>
        </p:nvSpPr>
        <p:spPr>
          <a:xfrm>
            <a:off x="508000" y="1368775"/>
            <a:ext cx="8283300" cy="534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rPr>
              <a:t>High Python Loop Overhead</a:t>
            </a:r>
            <a:r>
              <a:rPr lang="en-US" sz="1800">
                <a:solidFill>
                  <a:schemeClr val="dk1"/>
                </a:solidFill>
              </a:rPr>
              <a:t>: Insertion sort's inner while loop suffers from heavy interpreter overhead (dynamic type checks, bounds checking, pointer reassignment per shift).</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rPr>
              <a:t>Recursion Savings Nullified</a:t>
            </a:r>
            <a:r>
              <a:rPr lang="en-US" sz="1800">
                <a:solidFill>
                  <a:schemeClr val="dk1"/>
                </a:solidFill>
              </a:rPr>
              <a:t>: Merge sort recursion is O(log n) function calls. Saving the bottom 3–4 recursion levels saves very little time compared to the cost of millions of interpreted inner-loop shifts.</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rPr>
              <a:t>Comparison Cost</a:t>
            </a:r>
            <a:r>
              <a:rPr lang="en-US" sz="1800">
                <a:solidFill>
                  <a:schemeClr val="dk1"/>
                </a:solidFill>
              </a:rPr>
              <a:t>: In Python, executing an extra 6.32M </a:t>
            </a:r>
            <a:r>
              <a:rPr lang="en-US" sz="1800">
                <a:solidFill>
                  <a:srgbClr val="188038"/>
                </a:solidFill>
              </a:rPr>
              <a:t>&gt;</a:t>
            </a:r>
            <a:r>
              <a:rPr lang="en-US" sz="1800">
                <a:solidFill>
                  <a:schemeClr val="dk1"/>
                </a:solidFill>
              </a:rPr>
              <a:t> evaluations incurs direct CPU execution penalties.</a:t>
            </a:r>
            <a:endParaRPr sz="18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17"/>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Conclusions and questions</a:t>
            </a:r>
            <a:endParaRPr/>
          </a:p>
        </p:txBody>
      </p:sp>
      <p:sp>
        <p:nvSpPr>
          <p:cNvPr id="168" name="Google Shape;168;p17"/>
          <p:cNvSpPr/>
          <p:nvPr/>
        </p:nvSpPr>
        <p:spPr>
          <a:xfrm>
            <a:off x="714375" y="1619250"/>
            <a:ext cx="10763250" cy="3476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550">
                <a:solidFill>
                  <a:srgbClr val="183247"/>
                </a:solidFill>
                <a:latin typeface="Arial"/>
                <a:ea typeface="Arial"/>
                <a:cs typeface="Arial"/>
                <a:sym typeface="Arial"/>
              </a:rPr>
              <a:t>Hybrid was slower in 3 of 3 final CPU pairs.</a:t>
            </a:r>
            <a:endParaRPr/>
          </a:p>
          <a:p>
            <a:pPr indent="0" lvl="0" marL="0" marR="0" rtl="0" algn="l">
              <a:spcBef>
                <a:spcPts val="0"/>
              </a:spcBef>
              <a:spcAft>
                <a:spcPts val="0"/>
              </a:spcAft>
              <a:buNone/>
            </a:pPr>
            <a:r>
              <a:rPr b="0" lang="en-US" sz="2550">
                <a:solidFill>
                  <a:srgbClr val="183247"/>
                </a:solidFill>
                <a:latin typeface="Arial"/>
                <a:ea typeface="Arial"/>
                <a:cs typeface="Arial"/>
                <a:sym typeface="Arial"/>
              </a:rPr>
              <a:t>Median paired speedup: 0.929x.</a:t>
            </a:r>
            <a:endParaRPr/>
          </a:p>
          <a:p>
            <a:pPr indent="0" lvl="0" marL="0" marR="0" rtl="0" algn="l">
              <a:spcBef>
                <a:spcPts val="0"/>
              </a:spcBef>
              <a:spcAft>
                <a:spcPts val="0"/>
              </a:spcAft>
              <a:buNone/>
            </a:pPr>
            <a:r>
              <a:t/>
            </a:r>
            <a:endParaRPr b="0" sz="2550">
              <a:solidFill>
                <a:srgbClr val="183247"/>
              </a:solidFill>
              <a:latin typeface="Arial"/>
              <a:ea typeface="Arial"/>
              <a:cs typeface="Arial"/>
              <a:sym typeface="Arial"/>
            </a:endParaRPr>
          </a:p>
          <a:p>
            <a:pPr indent="0" lvl="0" marL="0" marR="0" rtl="0" algn="l">
              <a:spcBef>
                <a:spcPts val="0"/>
              </a:spcBef>
              <a:spcAft>
                <a:spcPts val="0"/>
              </a:spcAft>
              <a:buNone/>
            </a:pPr>
            <a:r>
              <a:rPr b="0" lang="en-US" sz="2550">
                <a:solidFill>
                  <a:srgbClr val="183247"/>
                </a:solidFill>
                <a:latin typeface="Arial"/>
                <a:ea typeface="Arial"/>
                <a:cs typeface="Arial"/>
                <a:sym typeface="Arial"/>
              </a:rPr>
              <a:t>CPU time and key comparisons measure different costs.</a:t>
            </a:r>
            <a:endParaRPr/>
          </a:p>
          <a:p>
            <a:pPr indent="0" lvl="0" marL="0" marR="0" rtl="0" algn="l">
              <a:spcBef>
                <a:spcPts val="0"/>
              </a:spcBef>
              <a:spcAft>
                <a:spcPts val="0"/>
              </a:spcAft>
              <a:buNone/>
            </a:pPr>
            <a:r>
              <a:t/>
            </a:r>
            <a:endParaRPr b="0" sz="2550">
              <a:solidFill>
                <a:srgbClr val="183247"/>
              </a:solidFill>
              <a:latin typeface="Arial"/>
              <a:ea typeface="Arial"/>
              <a:cs typeface="Arial"/>
              <a:sym typeface="Arial"/>
            </a:endParaRPr>
          </a:p>
          <a:p>
            <a:pPr indent="0" lvl="0" marL="0" marR="0" rtl="0" algn="l">
              <a:spcBef>
                <a:spcPts val="0"/>
              </a:spcBef>
              <a:spcAft>
                <a:spcPts val="0"/>
              </a:spcAft>
              <a:buNone/>
            </a:pPr>
            <a:r>
              <a:rPr b="0" lang="en-US" sz="2550">
                <a:solidFill>
                  <a:srgbClr val="183247"/>
                </a:solidFill>
                <a:latin typeface="Arial"/>
                <a:ea typeface="Arial"/>
                <a:cs typeface="Arial"/>
                <a:sym typeface="Arial"/>
              </a:rPr>
              <a:t>S=12 follows a finite, noisy search and an explicit tie-break.</a:t>
            </a:r>
            <a:endParaRPr/>
          </a:p>
          <a:p>
            <a:pPr indent="0" lvl="0" marL="0" marR="0" rtl="0" algn="l">
              <a:spcBef>
                <a:spcPts val="0"/>
              </a:spcBef>
              <a:spcAft>
                <a:spcPts val="0"/>
              </a:spcAft>
              <a:buNone/>
            </a:pPr>
            <a:r>
              <a:t/>
            </a:r>
            <a:endParaRPr b="0" sz="2550">
              <a:solidFill>
                <a:srgbClr val="183247"/>
              </a:solidFill>
              <a:latin typeface="Arial"/>
              <a:ea typeface="Arial"/>
              <a:cs typeface="Arial"/>
              <a:sym typeface="Arial"/>
            </a:endParaRPr>
          </a:p>
          <a:p>
            <a:pPr indent="0" lvl="0" marL="0" marR="0" rtl="0" algn="l">
              <a:spcBef>
                <a:spcPts val="0"/>
              </a:spcBef>
              <a:spcAft>
                <a:spcPts val="0"/>
              </a:spcAft>
              <a:buNone/>
            </a:pPr>
            <a:r>
              <a:rPr b="0" lang="en-US" sz="2550">
                <a:solidFill>
                  <a:srgbClr val="183247"/>
                </a:solidFill>
                <a:latin typeface="Arial"/>
                <a:ea typeface="Arial"/>
                <a:cs typeface="Arial"/>
                <a:sym typeface="Arial"/>
              </a:rPr>
              <a:t>One interpreter, one machine, uniform integer inputs.</a:t>
            </a:r>
            <a:endParaRPr/>
          </a:p>
        </p:txBody>
      </p:sp>
      <p:sp>
        <p:nvSpPr>
          <p:cNvPr id="169" name="Google Shape;169;p17"/>
          <p:cNvSpPr/>
          <p:nvPr/>
        </p:nvSpPr>
        <p:spPr>
          <a:xfrm>
            <a:off x="714375" y="5562600"/>
            <a:ext cx="1076325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50">
                <a:solidFill>
                  <a:srgbClr val="166A8F"/>
                </a:solidFill>
                <a:latin typeface="Arial"/>
                <a:ea typeface="Arial"/>
                <a:cs typeface="Arial"/>
                <a:sym typeface="Arial"/>
              </a:rPr>
              <a:t>2 minutes of Q&amp;A</a:t>
            </a:r>
            <a:endParaRPr/>
          </a:p>
        </p:txBody>
      </p:sp>
      <p:sp>
        <p:nvSpPr>
          <p:cNvPr id="170" name="Google Shape;170;p17"/>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8</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8"/>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Appendix: exact comparison models</a:t>
            </a:r>
            <a:endParaRPr/>
          </a:p>
        </p:txBody>
      </p:sp>
      <p:sp>
        <p:nvSpPr>
          <p:cNvPr id="177" name="Google Shape;177;p18"/>
          <p:cNvSpPr/>
          <p:nvPr/>
        </p:nvSpPr>
        <p:spPr>
          <a:xfrm>
            <a:off x="571500" y="1524000"/>
            <a:ext cx="523875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166A8F"/>
                </a:solidFill>
                <a:latin typeface="Arial"/>
                <a:ea typeface="Arial"/>
                <a:cs typeface="Arial"/>
                <a:sym typeface="Arial"/>
              </a:rPr>
              <a:t>Merge sort</a:t>
            </a:r>
            <a:endParaRPr/>
          </a:p>
        </p:txBody>
      </p:sp>
      <p:sp>
        <p:nvSpPr>
          <p:cNvPr id="178" name="Google Shape;178;p18"/>
          <p:cNvSpPr/>
          <p:nvPr/>
        </p:nvSpPr>
        <p:spPr>
          <a:xfrm>
            <a:off x="571500" y="2209800"/>
            <a:ext cx="5238750" cy="3857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83247"/>
                </a:solidFill>
                <a:latin typeface="Arial"/>
                <a:ea typeface="Arial"/>
                <a:cs typeface="Arial"/>
                <a:sym typeface="Arial"/>
              </a:rPr>
              <a:t>Worst comparisons:</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n ceil(log2 n) - 2^ceil(log2 n) + 1</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Random distinct merge of lengths a,b:</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a+b - a/(b+1) - b/(a+1)</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Insertion expectation for m items:</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m(m-1)/4 + m - H_m</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H_m = 1 + 1/2 + ... + 1/m</a:t>
            </a:r>
            <a:endParaRPr/>
          </a:p>
        </p:txBody>
      </p:sp>
      <p:sp>
        <p:nvSpPr>
          <p:cNvPr id="179" name="Google Shape;179;p18"/>
          <p:cNvSpPr/>
          <p:nvPr/>
        </p:nvSpPr>
        <p:spPr>
          <a:xfrm>
            <a:off x="6448425" y="1524000"/>
            <a:ext cx="519112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C4532D"/>
                </a:solidFill>
                <a:latin typeface="Arial"/>
                <a:ea typeface="Arial"/>
                <a:cs typeface="Arial"/>
                <a:sym typeface="Arial"/>
              </a:rPr>
              <a:t>Hybrid regimes</a:t>
            </a:r>
            <a:endParaRPr/>
          </a:p>
        </p:txBody>
      </p:sp>
      <p:sp>
        <p:nvSpPr>
          <p:cNvPr id="180" name="Google Shape;180;p18"/>
          <p:cNvSpPr/>
          <p:nvPr/>
        </p:nvSpPr>
        <p:spPr>
          <a:xfrm>
            <a:off x="6448425" y="2209800"/>
            <a:ext cx="5191125" cy="3857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83247"/>
                </a:solidFill>
                <a:latin typeface="Arial"/>
                <a:ea typeface="Arial"/>
                <a:cs typeface="Arial"/>
                <a:sym typeface="Arial"/>
              </a:rPr>
              <a:t>Worst/average (random distinct):</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Theta(n log(n/S) + nS), for S&lt;=n</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Fixed S: Theta(n log n)</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S=log n: Theta(n log n)</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S=n^alpha: Theta(n^(1+alpha))</a:t>
            </a:r>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S&gt;=n: insertion only</a:t>
            </a:r>
            <a:endParaRPr/>
          </a:p>
          <a:p>
            <a:pPr indent="0" lvl="0" marL="0" marR="0" rtl="0" algn="l">
              <a:spcBef>
                <a:spcPts val="0"/>
              </a:spcBef>
              <a:spcAft>
                <a:spcPts val="0"/>
              </a:spcAft>
              <a:buNone/>
            </a:pPr>
            <a:r>
              <a:t/>
            </a:r>
            <a:endParaRPr b="0" sz="2025">
              <a:solidFill>
                <a:srgbClr val="183247"/>
              </a:solidFill>
              <a:latin typeface="Arial"/>
              <a:ea typeface="Arial"/>
              <a:cs typeface="Arial"/>
              <a:sym typeface="Arial"/>
            </a:endParaRPr>
          </a:p>
          <a:p>
            <a:pPr indent="0" lvl="0" marL="0" marR="0" rtl="0" algn="l">
              <a:spcBef>
                <a:spcPts val="0"/>
              </a:spcBef>
              <a:spcAft>
                <a:spcPts val="0"/>
              </a:spcAft>
              <a:buNone/>
            </a:pPr>
            <a:r>
              <a:rPr b="0" lang="en-US" sz="2025">
                <a:solidFill>
                  <a:srgbClr val="183247"/>
                </a:solidFill>
                <a:latin typeface="Arial"/>
                <a:ea typeface="Arial"/>
                <a:cs typeface="Arial"/>
                <a:sym typeface="Arial"/>
              </a:rPr>
              <a:t>Buffer O(n), recursion O(log n)</a:t>
            </a:r>
            <a:endParaRPr/>
          </a:p>
        </p:txBody>
      </p:sp>
      <p:sp>
        <p:nvSpPr>
          <p:cNvPr id="181" name="Google Shape;181;p18"/>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9</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9"/>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Appendix: raw final measurements</a:t>
            </a:r>
            <a:endParaRPr/>
          </a:p>
        </p:txBody>
      </p:sp>
      <p:graphicFrame>
        <p:nvGraphicFramePr>
          <p:cNvPr id="188" name="Google Shape;188;p19"/>
          <p:cNvGraphicFramePr/>
          <p:nvPr/>
        </p:nvGraphicFramePr>
        <p:xfrm>
          <a:off x="609600" y="1714500"/>
          <a:ext cx="3000000" cy="3000000"/>
        </p:xfrm>
        <a:graphic>
          <a:graphicData uri="http://schemas.openxmlformats.org/drawingml/2006/table">
            <a:tbl>
              <a:tblPr>
                <a:noFill/>
                <a:tableStyleId>{B37FDDA3-D15D-4F2D-81DB-7366AADF92BB}</a:tableStyleId>
              </a:tblPr>
              <a:tblGrid>
                <a:gridCol w="2194550"/>
                <a:gridCol w="2194550"/>
                <a:gridCol w="2194550"/>
                <a:gridCol w="2194550"/>
                <a:gridCol w="2194550"/>
              </a:tblGrid>
              <a:tr h="530675">
                <a:tc>
                  <a:txBody>
                    <a:bodyPr/>
                    <a:lstStyle/>
                    <a:p>
                      <a:pPr indent="0" lvl="0" marL="0" marR="0" rtl="0" algn="l">
                        <a:spcBef>
                          <a:spcPts val="0"/>
                        </a:spcBef>
                        <a:spcAft>
                          <a:spcPts val="0"/>
                        </a:spcAft>
                        <a:buClr>
                          <a:srgbClr val="FFFFFF"/>
                        </a:buClr>
                        <a:buSzPts val="1875"/>
                        <a:buFont typeface="Arial"/>
                        <a:buNone/>
                      </a:pPr>
                      <a:r>
                        <a:rPr b="1" lang="en-US" sz="1875" u="none" cap="none" strike="noStrike">
                          <a:solidFill>
                            <a:srgbClr val="FFFFFF"/>
                          </a:solidFill>
                          <a:latin typeface="Arial"/>
                          <a:ea typeface="Arial"/>
                          <a:cs typeface="Arial"/>
                          <a:sym typeface="Arial"/>
                        </a:rPr>
                        <a:t>Seed</a:t>
                      </a:r>
                      <a:endParaRPr/>
                    </a:p>
                  </a:txBody>
                  <a:tcPr marT="45725" marB="45725" marR="91450" marL="91450">
                    <a:solidFill>
                      <a:srgbClr val="166A8F"/>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Algorithm</a:t>
                      </a:r>
                      <a:endParaRPr/>
                    </a:p>
                  </a:txBody>
                  <a:tcPr marT="45725" marB="45725" marR="91450" marL="91450">
                    <a:solidFill>
                      <a:srgbClr val="166A8F"/>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S</a:t>
                      </a:r>
                      <a:endParaRPr/>
                    </a:p>
                  </a:txBody>
                  <a:tcPr marT="45725" marB="45725" marR="91450" marL="91450">
                    <a:solidFill>
                      <a:srgbClr val="166A8F"/>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CPU seconds</a:t>
                      </a:r>
                      <a:endParaRPr/>
                    </a:p>
                  </a:txBody>
                  <a:tcPr marT="45725" marB="45725" marR="91450" marL="91450">
                    <a:solidFill>
                      <a:srgbClr val="166A8F"/>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Key comparisons</a:t>
                      </a:r>
                      <a:endParaRPr/>
                    </a:p>
                  </a:txBody>
                  <a:tcPr marT="45725" marB="45725" marR="91450" marL="91450">
                    <a:solidFill>
                      <a:srgbClr val="166A8F"/>
                    </a:solidFill>
                  </a:tcPr>
                </a:tc>
              </a:tr>
              <a:tr h="530675">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100900100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original</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78.968750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220,095,927</a:t>
                      </a:r>
                      <a:endParaRPr/>
                    </a:p>
                  </a:txBody>
                  <a:tcPr marT="45725" marB="45725" marR="91450" marL="91450">
                    <a:solidFill>
                      <a:srgbClr val="FFFFFF"/>
                    </a:solidFill>
                  </a:tcPr>
                </a:tc>
              </a:tr>
              <a:tr h="530675">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100900100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hybrid</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12</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85.000000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226,418,149</a:t>
                      </a:r>
                      <a:endParaRPr/>
                    </a:p>
                  </a:txBody>
                  <a:tcPr marT="45725" marB="45725" marR="91450" marL="91450">
                    <a:solidFill>
                      <a:srgbClr val="FFFFFF"/>
                    </a:solidFill>
                  </a:tcPr>
                </a:tc>
              </a:tr>
              <a:tr h="530675">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100900101</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original</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92.093750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220,099,689</a:t>
                      </a:r>
                      <a:endParaRPr/>
                    </a:p>
                  </a:txBody>
                  <a:tcPr marT="45725" marB="45725" marR="91450" marL="91450">
                    <a:solidFill>
                      <a:srgbClr val="FFFFFF"/>
                    </a:solidFill>
                  </a:tcPr>
                </a:tc>
              </a:tr>
              <a:tr h="530675">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100900101</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hybrid</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12</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99.906250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226,424,963</a:t>
                      </a:r>
                      <a:endParaRPr/>
                    </a:p>
                  </a:txBody>
                  <a:tcPr marT="45725" marB="45725" marR="91450" marL="91450">
                    <a:solidFill>
                      <a:srgbClr val="FFFFFF"/>
                    </a:solidFill>
                  </a:tcPr>
                </a:tc>
              </a:tr>
              <a:tr h="530675">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100900102</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original</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92.515625</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220,101,452</a:t>
                      </a:r>
                      <a:endParaRPr/>
                    </a:p>
                  </a:txBody>
                  <a:tcPr marT="45725" marB="45725" marR="91450" marL="91450">
                    <a:solidFill>
                      <a:srgbClr val="FFFFFF"/>
                    </a:solidFill>
                  </a:tcPr>
                </a:tc>
              </a:tr>
              <a:tr h="530675">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100900102</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hybrid</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12</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94.078125</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1875"/>
                        <a:buFont typeface="Arial"/>
                        <a:buNone/>
                      </a:pPr>
                      <a:r>
                        <a:rPr b="0" lang="en-US" sz="1875">
                          <a:solidFill>
                            <a:srgbClr val="183247"/>
                          </a:solidFill>
                          <a:latin typeface="Arial"/>
                          <a:ea typeface="Arial"/>
                          <a:cs typeface="Arial"/>
                          <a:sym typeface="Arial"/>
                        </a:rPr>
                        <a:t>226,417,959</a:t>
                      </a:r>
                      <a:endParaRPr/>
                    </a:p>
                  </a:txBody>
                  <a:tcPr marT="45725" marB="45725" marR="91450" marL="91450">
                    <a:solidFill>
                      <a:srgbClr val="FFFFFF"/>
                    </a:solidFill>
                  </a:tcPr>
                </a:tc>
              </a:tr>
            </a:tbl>
          </a:graphicData>
        </a:graphic>
      </p:graphicFrame>
      <p:sp>
        <p:nvSpPr>
          <p:cNvPr id="189" name="Google Shape;189;p19"/>
          <p:cNvSpPr/>
          <p:nvPr/>
        </p:nvSpPr>
        <p:spPr>
          <a:xfrm>
            <a:off x="600075" y="6019800"/>
            <a:ext cx="1090612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48616E"/>
                </a:solidFill>
                <a:latin typeface="Arial"/>
                <a:ea typeface="Arial"/>
                <a:cs typeface="Arial"/>
                <a:sym typeface="Arial"/>
              </a:rPr>
              <a:t>Each CPU value is from an uncounted run. Counts come from a separate run on identical unsorted data.</a:t>
            </a:r>
            <a:endParaRPr/>
          </a:p>
        </p:txBody>
      </p:sp>
      <p:sp>
        <p:nvSpPr>
          <p:cNvPr id="190" name="Google Shape;190;p19"/>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10</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20"/>
          <p:cNvSpPr/>
          <p:nvPr/>
        </p:nvSpPr>
        <p:spPr>
          <a:xfrm>
            <a:off x="571500" y="333375"/>
            <a:ext cx="110490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150">
                <a:solidFill>
                  <a:srgbClr val="183247"/>
                </a:solidFill>
                <a:latin typeface="Arial"/>
                <a:ea typeface="Arial"/>
                <a:cs typeface="Arial"/>
                <a:sym typeface="Arial"/>
              </a:rPr>
              <a:t>Appendix: different criteria, different winners</a:t>
            </a:r>
            <a:endParaRPr/>
          </a:p>
        </p:txBody>
      </p:sp>
      <p:graphicFrame>
        <p:nvGraphicFramePr>
          <p:cNvPr id="197" name="Google Shape;197;p20"/>
          <p:cNvGraphicFramePr/>
          <p:nvPr/>
        </p:nvGraphicFramePr>
        <p:xfrm>
          <a:off x="609600" y="1714500"/>
          <a:ext cx="3000000" cy="3000000"/>
        </p:xfrm>
        <a:graphic>
          <a:graphicData uri="http://schemas.openxmlformats.org/drawingml/2006/table">
            <a:tbl>
              <a:tblPr>
                <a:noFill/>
                <a:tableStyleId>{B37FDDA3-D15D-4F2D-81DB-7366AADF92BB}</a:tableStyleId>
              </a:tblPr>
              <a:tblGrid>
                <a:gridCol w="3657600"/>
                <a:gridCol w="3657600"/>
                <a:gridCol w="3657600"/>
              </a:tblGrid>
              <a:tr h="714375">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Input n</a:t>
                      </a:r>
                      <a:endParaRPr/>
                    </a:p>
                  </a:txBody>
                  <a:tcPr marT="45725" marB="45725" marR="91450" marL="91450">
                    <a:solidFill>
                      <a:srgbClr val="166A8F"/>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Lowest median CPU S</a:t>
                      </a:r>
                      <a:endParaRPr/>
                    </a:p>
                  </a:txBody>
                  <a:tcPr marT="45725" marB="45725" marR="91450" marL="91450">
                    <a:solidFill>
                      <a:srgbClr val="166A8F"/>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Fewest median comparisons S</a:t>
                      </a:r>
                      <a:endParaRPr/>
                    </a:p>
                  </a:txBody>
                  <a:tcPr marT="45725" marB="45725" marR="91450" marL="91450">
                    <a:solidFill>
                      <a:srgbClr val="166A8F"/>
                    </a:solidFill>
                  </a:tcPr>
                </a:tc>
              </a:tr>
              <a:tr h="714375">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1,000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16</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1</a:t>
                      </a:r>
                      <a:endParaRPr/>
                    </a:p>
                  </a:txBody>
                  <a:tcPr marT="45725" marB="45725" marR="91450" marL="91450">
                    <a:solidFill>
                      <a:srgbClr val="FFFFFF"/>
                    </a:solidFill>
                  </a:tcPr>
                </a:tc>
              </a:tr>
              <a:tr h="714375">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10,000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32</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1</a:t>
                      </a:r>
                      <a:endParaRPr/>
                    </a:p>
                  </a:txBody>
                  <a:tcPr marT="45725" marB="45725" marR="91450" marL="91450">
                    <a:solidFill>
                      <a:srgbClr val="FFFFFF"/>
                    </a:solidFill>
                  </a:tcPr>
                </a:tc>
              </a:tr>
              <a:tr h="714375">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100,000</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32</a:t>
                      </a:r>
                      <a:endParaRPr/>
                    </a:p>
                  </a:txBody>
                  <a:tcPr marT="45725" marB="45725" marR="91450" marL="91450">
                    <a:solidFill>
                      <a:srgbClr val="FFFFFF"/>
                    </a:solidFill>
                  </a:tcPr>
                </a:tc>
                <a:tc>
                  <a:txBody>
                    <a:bodyPr/>
                    <a:lstStyle/>
                    <a:p>
                      <a:pPr indent="0" lvl="0" marL="0" marR="0" rtl="0" algn="l">
                        <a:spcBef>
                          <a:spcPts val="0"/>
                        </a:spcBef>
                        <a:spcAft>
                          <a:spcPts val="0"/>
                        </a:spcAft>
                        <a:buClr>
                          <a:srgbClr val="183247"/>
                        </a:buClr>
                        <a:buSzPts val="2025"/>
                        <a:buFont typeface="Arial"/>
                        <a:buNone/>
                      </a:pPr>
                      <a:r>
                        <a:rPr b="0" lang="en-US" sz="2025">
                          <a:solidFill>
                            <a:srgbClr val="183247"/>
                          </a:solidFill>
                          <a:latin typeface="Arial"/>
                          <a:ea typeface="Arial"/>
                          <a:cs typeface="Arial"/>
                          <a:sym typeface="Arial"/>
                        </a:rPr>
                        <a:t>1</a:t>
                      </a:r>
                      <a:endParaRPr/>
                    </a:p>
                  </a:txBody>
                  <a:tcPr marT="45725" marB="45725" marR="91450" marL="91450">
                    <a:solidFill>
                      <a:srgbClr val="FFFFFF"/>
                    </a:solidFill>
                  </a:tcPr>
                </a:tc>
              </a:tr>
            </a:tbl>
          </a:graphicData>
        </a:graphic>
      </p:graphicFrame>
      <p:sp>
        <p:nvSpPr>
          <p:cNvPr id="198" name="Google Shape;198;p20"/>
          <p:cNvSpPr/>
          <p:nvPr/>
        </p:nvSpPr>
        <p:spPr>
          <a:xfrm>
            <a:off x="600075" y="6019800"/>
            <a:ext cx="10906125"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48616E"/>
                </a:solidFill>
                <a:latin typeface="Arial"/>
                <a:ea typeface="Arial"/>
                <a:cs typeface="Arial"/>
                <a:sym typeface="Arial"/>
              </a:rPr>
              <a:t>Ties use the smaller S. These are per-size descriptive winners, before shortlist confirmation.</a:t>
            </a:r>
            <a:endParaRPr/>
          </a:p>
        </p:txBody>
      </p:sp>
      <p:sp>
        <p:nvSpPr>
          <p:cNvPr id="199" name="Google Shape;199;p20"/>
          <p:cNvSpPr/>
          <p:nvPr/>
        </p:nvSpPr>
        <p:spPr>
          <a:xfrm>
            <a:off x="11239500" y="6515100"/>
            <a:ext cx="6191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00">
                <a:solidFill>
                  <a:srgbClr val="48616E"/>
                </a:solidFill>
                <a:latin typeface="Arial"/>
                <a:ea typeface="Arial"/>
                <a:cs typeface="Arial"/>
                <a:sym typeface="Arial"/>
              </a:rPr>
              <a:t>11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
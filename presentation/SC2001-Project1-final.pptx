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2e51280318e42fc" /><Relationship Type="http://schemas.openxmlformats.org/officeDocument/2006/relationships/extended-properties" Target="/docProps/app.xml" Id="Re833963b777a453f" /><Relationship Type="http://schemas.openxmlformats.org/officeDocument/2006/relationships/officeDocument" Target="/ppt/presentation.xml" Id="R9d25a2643173484b" /></Relationships>
</file>

<file path=ppt/presentation.xml><?xml version="1.0" encoding="utf-8"?>
<p:presentation xmlns:p="http://schemas.openxmlformats.org/presentationml/2006/main">
  <p:sldMasterIdLst>
    <p:sldMasterId xmlns:r="http://schemas.openxmlformats.org/officeDocument/2006/relationships" id="2147483648" r:id="R51584a9c0e774616"/>
  </p:sldMasterIdLst>
  <p:notesMasterIdLst>
    <p:notesMasterId xmlns:r="http://schemas.openxmlformats.org/officeDocument/2006/relationships" r:id="Rdeccbcdd5bba455b"/>
  </p:notesMasterIdLst>
  <p:sldIdLst>
    <p:sldId xmlns:r="http://schemas.openxmlformats.org/officeDocument/2006/relationships" id="256" r:id="Rec85664c92b44f31"/>
    <p:sldId xmlns:r="http://schemas.openxmlformats.org/officeDocument/2006/relationships" id="257" r:id="Rd61241ff6c41448f"/>
    <p:sldId xmlns:r="http://schemas.openxmlformats.org/officeDocument/2006/relationships" id="258" r:id="R1e674e3c5d5847fd"/>
    <p:sldId xmlns:r="http://schemas.openxmlformats.org/officeDocument/2006/relationships" id="259" r:id="R7769de4ba8a64ae5"/>
    <p:sldId xmlns:r="http://schemas.openxmlformats.org/officeDocument/2006/relationships" id="260" r:id="Ra4bd465b7a07443e"/>
    <p:sldId xmlns:r="http://schemas.openxmlformats.org/officeDocument/2006/relationships" id="261" r:id="R92d05355ed9446cb"/>
    <p:sldId xmlns:r="http://schemas.openxmlformats.org/officeDocument/2006/relationships" id="262" r:id="R0eddc4dbb5a14238"/>
    <p:sldId xmlns:r="http://schemas.openxmlformats.org/officeDocument/2006/relationships" id="263" r:id="Rd7216dfc85294245"/>
    <p:sldId xmlns:r="http://schemas.openxmlformats.org/officeDocument/2006/relationships" id="264" r:id="Ra9ccf03bad844083"/>
    <p:sldId xmlns:r="http://schemas.openxmlformats.org/officeDocument/2006/relationships" id="265" r:id="Rffbac5f7c16d407d"/>
    <p:sldId xmlns:r="http://schemas.openxmlformats.org/officeDocument/2006/relationships" id="266" r:id="R60f01f29e15b41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773e0e42224afe" /><Relationship Type="http://schemas.openxmlformats.org/officeDocument/2006/relationships/slideMaster" Target="/ppt/slideMasters/slideMaster1.xml" Id="R51584a9c0e774616" /><Relationship Type="http://schemas.openxmlformats.org/officeDocument/2006/relationships/notesMaster" Target="/ppt/notesMasters/notesMaster1.xml" Id="Rdeccbcdd5bba455b" /><Relationship Type="http://schemas.openxmlformats.org/officeDocument/2006/relationships/presProps" Target="/ppt/presProps.xml" Id="R79c0721b3fbc459d" /><Relationship Type="http://schemas.openxmlformats.org/officeDocument/2006/relationships/tableStyles" Target="/ppt/tableStyles.xml" Id="R756384d0edea48ec" /><Relationship Type="http://schemas.openxmlformats.org/officeDocument/2006/relationships/slide" Target="/ppt/slides/slide1.xml" Id="Rec85664c92b44f31" /><Relationship Type="http://schemas.openxmlformats.org/officeDocument/2006/relationships/slide" Target="/ppt/slides/slide2.xml" Id="Rd61241ff6c41448f" /><Relationship Type="http://schemas.openxmlformats.org/officeDocument/2006/relationships/slide" Target="/ppt/slides/slide3.xml" Id="R1e674e3c5d5847fd" /><Relationship Type="http://schemas.openxmlformats.org/officeDocument/2006/relationships/slide" Target="/ppt/slides/slide4.xml" Id="R7769de4ba8a64ae5" /><Relationship Type="http://schemas.openxmlformats.org/officeDocument/2006/relationships/slide" Target="/ppt/slides/slide5.xml" Id="Ra4bd465b7a07443e" /><Relationship Type="http://schemas.openxmlformats.org/officeDocument/2006/relationships/slide" Target="/ppt/slides/slide6.xml" Id="R92d05355ed9446cb" /><Relationship Type="http://schemas.openxmlformats.org/officeDocument/2006/relationships/slide" Target="/ppt/slides/slide7.xml" Id="R0eddc4dbb5a14238" /><Relationship Type="http://schemas.openxmlformats.org/officeDocument/2006/relationships/slide" Target="/ppt/slides/slide8.xml" Id="Rd7216dfc85294245" /><Relationship Type="http://schemas.openxmlformats.org/officeDocument/2006/relationships/slide" Target="/ppt/slides/slide9.xml" Id="Ra9ccf03bad844083" /><Relationship Type="http://schemas.openxmlformats.org/officeDocument/2006/relationships/slide" Target="/ppt/slides/slide10.xml" Id="Rffbac5f7c16d407d" /><Relationship Type="http://schemas.openxmlformats.org/officeDocument/2006/relationships/slide" Target="/ppt/slides/slide11.xml" Id="R60f01f29e15b41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58e0c57ad641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ef55904d7f4809" /><Relationship Type="http://schemas.openxmlformats.org/officeDocument/2006/relationships/notesMaster" Target="/ppt/notesMasters/notesMaster1.xml" Id="R5ab5cd6efcee40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897669afda4265" /><Relationship Type="http://schemas.openxmlformats.org/officeDocument/2006/relationships/notesMaster" Target="/ppt/notesMasters/notesMaster1.xml" Id="R4ddc6717d1744b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5ed01f26b8489e" /><Relationship Type="http://schemas.openxmlformats.org/officeDocument/2006/relationships/notesMaster" Target="/ppt/notesMasters/notesMaster1.xml" Id="Rc98bae1b918441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2a06d8b63f418b" /><Relationship Type="http://schemas.openxmlformats.org/officeDocument/2006/relationships/notesMaster" Target="/ppt/notesMasters/notesMaster1.xml" Id="R92f5048a16c84f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c79e03e0574366" /><Relationship Type="http://schemas.openxmlformats.org/officeDocument/2006/relationships/notesMaster" Target="/ppt/notesMasters/notesMaster1.xml" Id="R74c44447a5ad4a23"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9aa34c58894a37" /><Relationship Type="http://schemas.openxmlformats.org/officeDocument/2006/relationships/notesMaster" Target="/ppt/notesMasters/notesMaster1.xml" Id="R51153c74507547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75e9a29b4649de" /><Relationship Type="http://schemas.openxmlformats.org/officeDocument/2006/relationships/notesMaster" Target="/ppt/notesMasters/notesMaster1.xml" Id="Rb6bfe7ba4dee41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4b66863e6d4b99" /><Relationship Type="http://schemas.openxmlformats.org/officeDocument/2006/relationships/notesMaster" Target="/ppt/notesMasters/notesMaster1.xml" Id="Rebc70f1d229b4d3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787db2b0dc5431c" /><Relationship Type="http://schemas.openxmlformats.org/officeDocument/2006/relationships/notesMaster" Target="/ppt/notesMasters/notesMaster1.xml" Id="Rd6b9b059fc4846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3089287a8b4c0b" /><Relationship Type="http://schemas.openxmlformats.org/officeDocument/2006/relationships/notesMaster" Target="/ppt/notesMasters/notesMaster1.xml" Id="R3200e4ff7dd8467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16d5d95e958457c" /><Relationship Type="http://schemas.openxmlformats.org/officeDocument/2006/relationships/notesMaster" Target="/ppt/notesMasters/notesMaster1.xml" Id="R37c9130a23f846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State the question: can insertion sort at small recursive leaves reduce Python CPU time? We implemented both algorithms, counted key comparisons and measured CPU separately. Explain that S is a leaf-size threshold, and that we chose it from experiments. Requirements: Project1.pdf p.1. Presentation format: info.pdf p.1-2. No student names or contributions are assumed.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0:35-1:50, including about 25 seconds of live demo. Explain [lo,hi): lo is included, hi excluded. Trace the left leaf: 5&gt;2 true, 5&gt;4 true, 2&gt;4 false. Right leaf has two false comparisons. Merge needs five ordering checks then copies 6. Run python demo.py from the preopened terminal. Both algorithms happen to make 10 comparisons on this input. This example explains mechanics, not typical speed. If the terminal fails, use these precomputed values. Source: algorithms.py and demo.py. Lecture 01_Sorting.pdf p.12/14.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1:50-2:55. Explain stability: left on ties, shift only greater values. Index checks, copying and validation do not count. Tests include exhaustive ternary arrays through length 6 and S=1 equality with original counts. Large runs check exact frequency histograms and sorted order, not just checksums. Warmup is one deterministic small sort per case. Seeded shuffled order and 3 input seeds reduce systematic order bias. Timed tiny inputs use independent pre-timer batches. Metadata captures CPython/Windows/hardware. sources: tests/, experiment.py, results/full/metadata.json. Timer semantics: https://docs.python.org/3/library/time.html#time.process_time. RNG: https://docs.python.org/3/library/random.html#random.randint.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2:55-4:10. Explain the original recurrence for even n; the exact code uses floor/ceiling lengths. Merge work is linear at each of logarithmically many levels. Hybrid replaces lower merge levels with insertion leaves. With constant S it retains n log n growth. The plotted coordinates are log10(n) and log10(count), so 3 to 7 covers 1,000 through 10,000,000. The full notebook uses conventional log axes plus min-max ranges and the worst bound. The analytical random-distinct expectation is an approximation to repeated integers, not a fitted line. Similar shape does not prove complexity; the recurrence does. Source: theory.py, docs/theory.md, raw stage=scale.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4:10-5:10. Fixed n separates the threshold effect from input-size growth. Merge levels shrink only when S crosses an actual recursive subarray length. Larger leaves increase insertion comparisons. Our analytical recurrence uses the real rounded leaf sizes, explaining plateaus. Both true and terminating false comparisons are included in the distinct insertion expectation m(m-1)/4+m-H_m. The curve is an approximation with ties. Source: theory.py and raw stage=tune,n=100000.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5:10-6:25. CPU is the predeclared primary criterion. Shortlist the three thresholds with the lowest geometric mean of CPU ratios across the tuning sizes. Candidates: 12, 16, 32. Confirm on fresh one-million inputs. Confirmation medians: S=12: 2.78125 s; S=16: 2.82812 s; S=32: 2.78125 s. S=12, 32 tied at 2.78125 s median. The rule chooses smaller S. These overlapping/noisy results do not establish a universal optimum. The chart shows each confirmation seed, and notebook charts show ranges. Report count winners separately from CPU winners. Source: shortlist.json, selection.json and raw tune/confirm. A threshold is best only within the tested search and criterion.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6:25-7:30. These are real full-size runs on three fresh seeds. Each line pairs the same unsorted dataset. Speedup is original CPU divided by hybrid CPU for each seed; then take the median. Median paired speedup is 0.929x, observed range 0.922-0.983x. The ratio of medians is 0.979x, a different statistic. Median comparisons are 220,099,689 original and 226,418,149 hybrid, a +2.87% change. Counts exclude timer/counter overhead as explained. The appendix has raw values. Sources: results/full/raw.csv stage=final, plots/full/final_paired_cpu.csv and final_paired_comparisons.csv.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7:30-8:00. State the observed finding without promising it on other machines/distributions. Three repeats describe variability, not statistical significance. Python overhead, copies and recursion explain why count and CPU rankings can differ, but we did not profile causality. Stop at 8:00 and allow Q&amp;A until 10:00. Every member should be ready to answer all topics. Use the appendices only when asked. Source: measured findings and info.pdf.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not in the 8-minute script. Explain the expected trailing run in merge: its expectation is a/(b+1)+b/(a+1), subtracted from total length. Expected insertion inversions omit false comparisons; add m-H_m. Exact discrete ties change the expectation. Public hybrid allocates a buffer even when S&gt;=n, though insertion itself is O(1) extra space. The full expression uses B=min(S,n) to avoid negative log values. Source: docs/theory.md and theory.py.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CPU and count are intentionally different modes. All final runs use batch size 1 and n=10,000,000. The three seeds are fresh relative to tuning. Check the raw CSV for wall time and integrity checks. Source: results/full/raw.csv. Speedup per row pair is original CPU/hybrid CPU.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Distinguish raw comparison minimization from practical CPU performance. Finite thresholds, three seeds, one machine. Do not use the tiny smoke run as evidence. The observed min-max CPU bars in the notebook help interpret near ties. Source: plots/full/findings.json and raw tune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59e1852d5c40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c037fe8f17434d" /><Relationship Type="http://schemas.openxmlformats.org/officeDocument/2006/relationships/slideLayout" Target="/ppt/slideLayouts/slideLayout1.xml" Id="R5a661225f51b4a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661225f51b4a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9e3d941c12c4019" /><Relationship Type="http://schemas.openxmlformats.org/officeDocument/2006/relationships/notesSlide" Target="/ppt/notesSlides/notesSlide1.xml" Id="Rf3af4474283541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869fc5d991746e5" /><Relationship Type="http://schemas.openxmlformats.org/officeDocument/2006/relationships/notesSlide" Target="/ppt/notesSlides/notesSlide2.xml" Id="R5dba610dff7843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b3925aa0a94639" /><Relationship Type="http://schemas.openxmlformats.org/officeDocument/2006/relationships/notesSlide" Target="/ppt/notesSlides/notesSlide3.xml" Id="Ra385ebee3fa348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e38183ba4c48e2" /><Relationship Type="http://schemas.openxmlformats.org/officeDocument/2006/relationships/chart" Target="/ppt/slides/charts/chart1.xml" Id="R33a4ae2a87b94db6" /><Relationship Type="http://schemas.openxmlformats.org/officeDocument/2006/relationships/notesSlide" Target="/ppt/notesSlides/notesSlide4.xml" Id="R2db50f45a01646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ca281c9f6504801" /><Relationship Type="http://schemas.openxmlformats.org/officeDocument/2006/relationships/chart" Target="/ppt/slides/charts/chart2.xml" Id="Rd9c4204327324f26" /><Relationship Type="http://schemas.openxmlformats.org/officeDocument/2006/relationships/notesSlide" Target="/ppt/notesSlides/notesSlide5.xml" Id="Rcd28739880b447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7237c4cfcdd4e63" /><Relationship Type="http://schemas.openxmlformats.org/officeDocument/2006/relationships/chart" Target="/ppt/slides/charts/chart3.xml" Id="Rbdd7988d4b5143e1" /><Relationship Type="http://schemas.openxmlformats.org/officeDocument/2006/relationships/chart" Target="/ppt/slides/charts/chart4.xml" Id="Rbc18fd2603ce473d" /><Relationship Type="http://schemas.openxmlformats.org/officeDocument/2006/relationships/notesSlide" Target="/ppt/notesSlides/notesSlide6.xml" Id="R76251555980446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453cbfb18f4004" /><Relationship Type="http://schemas.openxmlformats.org/officeDocument/2006/relationships/chart" Target="/ppt/slides/charts/chart5.xml" Id="R869c8fd8bb5141a5" /><Relationship Type="http://schemas.openxmlformats.org/officeDocument/2006/relationships/chart" Target="/ppt/slides/charts/chart6.xml" Id="R60b49567a4504c70" /><Relationship Type="http://schemas.openxmlformats.org/officeDocument/2006/relationships/notesSlide" Target="/ppt/notesSlides/notesSlide7.xml" Id="Rfa3b0d99dccf4b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47dcacefe34483" /><Relationship Type="http://schemas.openxmlformats.org/officeDocument/2006/relationships/notesSlide" Target="/ppt/notesSlides/notesSlide8.xml" Id="R072d8cac583347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35582f457c94494" /><Relationship Type="http://schemas.openxmlformats.org/officeDocument/2006/relationships/notesSlide" Target="/ppt/notesSlides/notesSlide9.xml" Id="R18aba1aa3898411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0887538b9b3486d" /><Relationship Type="http://schemas.openxmlformats.org/officeDocument/2006/relationships/notesSlide" Target="/ppt/notesSlides/notesSlide10.xml" Id="Rf330f0944c7e418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7768fa9bd8d4c68" /><Relationship Type="http://schemas.openxmlformats.org/officeDocument/2006/relationships/notesSlide" Target="/ppt/notesSlides/notesSlide11.xml" Id="Rb19fc2f16dea45b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83247"/>
                </a:solidFill>
                <a:latin typeface="Arial"/>
                <a:ea typeface="Arial"/>
                <a:cs typeface="Arial"/>
              </a:rPr>
              <a:t>(c)(i): fixed S=16</a:t>
            </a:r>
          </a:p>
        </c:rich>
      </c:tx>
      <c:overlay val="0"/>
      <c:txPr>
        <a:bodyPr xmlns:a="http://schemas.openxmlformats.org/drawingml/2006/main" anchorCtr="1"/>
        <a:lstStyle xmlns:a="http://schemas.openxmlformats.org/drawingml/2006/main"/>
        <a:p xmlns:a="http://schemas.openxmlformats.org/drawingml/2006/main">
          <a:pPr>
            <a:defRPr sz="1800" b="1">
              <a:solidFill>
                <a:srgbClr val="183247"/>
              </a:solidFill>
              <a:latin typeface="Arial"/>
              <a:ea typeface="Arial"/>
              <a:cs typeface="Arial"/>
            </a:defRPr>
          </a:pPr>
        </a:p>
      </c:txPr>
    </c:title>
    <c:plotArea>
      <c:scatterChart>
        <c:scatterStyle val="lineMarker"/>
        <c:ser>
          <c:idx val="0"/>
          <c:order val="0"/>
          <c:tx>
            <c:v>Measured median</c:v>
          </c:tx>
          <c:spPr>
            <a:solidFill xmlns:a="http://schemas.openxmlformats.org/drawingml/2006/main">
              <a:srgbClr val="166A8F"/>
            </a:solidFill>
            <a:ln xmlns:a="http://schemas.openxmlformats.org/drawingml/2006/main" w="23813">
              <a:solidFill>
                <a:srgbClr val="166A8F"/>
              </a:solidFill>
              <a:prstDash val="solid"/>
            </a:ln>
          </c:spPr>
          <c:marker>
            <c:symbol val="circle"/>
            <c:size val="6"/>
            <c:spPr>
              <a:solidFill xmlns:a="http://schemas.openxmlformats.org/drawingml/2006/main">
                <a:srgbClr val="166A8F"/>
              </a:solidFill>
            </c:spPr>
          </c:marker>
          <c:xVal>
            <c:numRef>
              <c:f>'Chart Data'!$A$2:$A$8</c:f>
              <c:numCache>
                <c:formatCode>General</c:formatCode>
                <c:ptCount val="7"/>
                <c:pt idx="0">
                  <c:v>3</c:v>
                </c:pt>
                <c:pt idx="1">
                  <c:v>4</c:v>
                </c:pt>
                <c:pt idx="2">
                  <c:v>5</c:v>
                </c:pt>
                <c:pt idx="3">
                  <c:v>5.477121</c:v>
                </c:pt>
                <c:pt idx="4">
                  <c:v>6</c:v>
                </c:pt>
                <c:pt idx="5">
                  <c:v>6.477121</c:v>
                </c:pt>
                <c:pt idx="6">
                  <c:v>7</c:v>
                </c:pt>
              </c:numCache>
            </c:numRef>
          </c:xVal>
          <c:yVal>
            <c:numRef>
              <c:f>'Chart Data'!$B$2:$B$8</c:f>
              <c:numCache>
                <c:formatCode>0.00</c:formatCode>
                <c:ptCount val="7"/>
                <c:pt idx="0">
                  <c:v>4.01649</c:v>
                </c:pt>
                <c:pt idx="1">
                  <c:v>5.104395</c:v>
                </c:pt>
                <c:pt idx="2">
                  <c:v>6.214702</c:v>
                </c:pt>
                <c:pt idx="3">
                  <c:v>6.720885</c:v>
                </c:pt>
                <c:pt idx="4">
                  <c:v>7.305812</c:v>
                </c:pt>
                <c:pt idx="5">
                  <c:v>7.803136</c:v>
                </c:pt>
                <c:pt idx="6">
                  <c:v>8.354913</c:v>
                </c:pt>
              </c:numCache>
            </c:numRef>
          </c:yVal>
        </c:ser>
        <c:ser>
          <c:idx val="1"/>
          <c:order val="1"/>
          <c:tx>
            <c:v>Distinct model</c:v>
          </c:tx>
          <c:spPr>
            <a:solidFill xmlns:a="http://schemas.openxmlformats.org/drawingml/2006/main">
              <a:srgbClr val="C4532D"/>
            </a:solidFill>
            <a:ln xmlns:a="http://schemas.openxmlformats.org/drawingml/2006/main" w="23813">
              <a:solidFill>
                <a:srgbClr val="C4532D"/>
              </a:solidFill>
              <a:prstDash val="solid"/>
            </a:ln>
          </c:spPr>
          <c:marker>
            <c:symbol val="none"/>
            <c:size val="6"/>
          </c:marker>
          <c:xVal>
            <c:numRef>
              <c:f>'Chart Data'!$C$2:$C$8</c:f>
              <c:numCache>
                <c:formatCode>General</c:formatCode>
                <c:ptCount val="7"/>
                <c:pt idx="0">
                  <c:v>3</c:v>
                </c:pt>
                <c:pt idx="1">
                  <c:v>4</c:v>
                </c:pt>
                <c:pt idx="2">
                  <c:v>5</c:v>
                </c:pt>
                <c:pt idx="3">
                  <c:v>5.477121</c:v>
                </c:pt>
                <c:pt idx="4">
                  <c:v>6</c:v>
                </c:pt>
                <c:pt idx="5">
                  <c:v>6.477121</c:v>
                </c:pt>
                <c:pt idx="6">
                  <c:v>7</c:v>
                </c:pt>
              </c:numCache>
            </c:numRef>
          </c:xVal>
          <c:yVal>
            <c:numRef>
              <c:f>'Chart Data'!$D$2:$D$8</c:f>
              <c:numCache>
                <c:formatCode>0.00</c:formatCode>
                <c:ptCount val="7"/>
                <c:pt idx="0">
                  <c:v>4.013857</c:v>
                </c:pt>
                <c:pt idx="1">
                  <c:v>5.104025</c:v>
                </c:pt>
                <c:pt idx="2">
                  <c:v>6.214686</c:v>
                </c:pt>
                <c:pt idx="3">
                  <c:v>6.720844</c:v>
                </c:pt>
                <c:pt idx="4">
                  <c:v>7.305858</c:v>
                </c:pt>
                <c:pt idx="5">
                  <c:v>7.803124</c:v>
                </c:pt>
                <c:pt idx="6">
                  <c:v>8.35491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83247"/>
                    </a:solidFill>
                    <a:latin typeface="Arial"/>
                    <a:ea typeface="Arial"/>
                    <a:cs typeface="Arial"/>
                  </a:rPr>
                  <a:t>log10(key comparisons)</a:t>
                </a:r>
              </a:p>
            </c:rich>
          </c:tx>
          <c:overlay val="0"/>
          <c:txPr>
            <a:bodyPr xmlns:a="http://schemas.openxmlformats.org/drawingml/2006/main" anchorCtr="1"/>
            <a:lstStyle xmlns:a="http://schemas.openxmlformats.org/drawingml/2006/main"/>
            <a:p xmlns:a="http://schemas.openxmlformats.org/drawingml/2006/main">
              <a:pPr>
                <a:defRPr sz="1500">
                  <a:solidFill>
                    <a:srgbClr val="18324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8616E"/>
                </a:solidFill>
                <a:latin typeface="Arial"/>
                <a:ea typeface="Arial"/>
                <a:cs typeface="Arial"/>
              </a:defRPr>
            </a:pPr>
          </a:p>
        </c:txPr>
        <c:crossAx val="48650112"/>
      </c:valAx>
      <c:valAx>
        <c:axId val="48650112"/>
        <c:scaling>
          <c:orientation val="minMax"/>
          <c:max val="7"/>
          <c:min val="3"/>
        </c:scaling>
        <c:delete val="0"/>
        <c:axPos val="b"/>
        <c:title>
          <c:tx>
            <c:rich>
              <a:bodyPr xmlns:a="http://schemas.openxmlformats.org/drawingml/2006/main"/>
              <a:lstStyle xmlns:a="http://schemas.openxmlformats.org/drawingml/2006/main"/>
              <a:p xmlns:a="http://schemas.openxmlformats.org/drawingml/2006/main">
                <a:r>
                  <a:rPr sz="1500">
                    <a:solidFill>
                      <a:srgbClr val="183247"/>
                    </a:solidFill>
                    <a:latin typeface="Arial"/>
                    <a:ea typeface="Arial"/>
                    <a:cs typeface="Arial"/>
                  </a:rPr>
                  <a:t>log10(n integers)</a:t>
                </a:r>
              </a:p>
            </c:rich>
          </c:tx>
          <c:overlay val="0"/>
          <c:txPr>
            <a:bodyPr xmlns:a="http://schemas.openxmlformats.org/drawingml/2006/main" anchorCtr="1"/>
            <a:lstStyle xmlns:a="http://schemas.openxmlformats.org/drawingml/2006/main"/>
            <a:p xmlns:a="http://schemas.openxmlformats.org/drawingml/2006/main">
              <a:pPr>
                <a:defRPr sz="1500">
                  <a:solidFill>
                    <a:srgbClr val="18324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8616E"/>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8324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83247"/>
                </a:solidFill>
                <a:latin typeface="Arial"/>
                <a:ea typeface="Arial"/>
                <a:cs typeface="Arial"/>
              </a:rPr>
              <a:t>(c)(ii): n=100,000</a:t>
            </a:r>
          </a:p>
        </c:rich>
      </c:tx>
      <c:overlay val="0"/>
      <c:txPr>
        <a:bodyPr xmlns:a="http://schemas.openxmlformats.org/drawingml/2006/main" anchorCtr="1"/>
        <a:lstStyle xmlns:a="http://schemas.openxmlformats.org/drawingml/2006/main"/>
        <a:p xmlns:a="http://schemas.openxmlformats.org/drawingml/2006/main">
          <a:pPr>
            <a:defRPr sz="1800" b="1">
              <a:solidFill>
                <a:srgbClr val="183247"/>
              </a:solidFill>
              <a:latin typeface="Arial"/>
              <a:ea typeface="Arial"/>
              <a:cs typeface="Arial"/>
            </a:defRPr>
          </a:pPr>
        </a:p>
      </c:txPr>
    </c:title>
    <c:plotArea>
      <c:scatterChart>
        <c:scatterStyle val="lineMarker"/>
        <c:ser>
          <c:idx val="0"/>
          <c:order val="0"/>
          <c:tx>
            <c:v>Measured median</c:v>
          </c:tx>
          <c:spPr>
            <a:solidFill xmlns:a="http://schemas.openxmlformats.org/drawingml/2006/main">
              <a:srgbClr val="166A8F"/>
            </a:solidFill>
            <a:ln xmlns:a="http://schemas.openxmlformats.org/drawingml/2006/main" w="23813">
              <a:solidFill>
                <a:srgbClr val="166A8F"/>
              </a:solidFill>
              <a:prstDash val="solid"/>
            </a:ln>
          </c:spPr>
          <c:marker>
            <c:symbol val="circle"/>
            <c:size val="6"/>
            <c:spPr>
              <a:solidFill xmlns:a="http://schemas.openxmlformats.org/drawingml/2006/main">
                <a:srgbClr val="166A8F"/>
              </a:solidFill>
            </c:spPr>
          </c:marker>
          <c:xVal>
            <c:numRef>
              <c:f>'Chart Data'!$A$2:$A$10</c:f>
              <c:numCache>
                <c:formatCode>General</c:formatCode>
                <c:ptCount val="9"/>
                <c:pt idx="0">
                  <c:v>1</c:v>
                </c:pt>
                <c:pt idx="1">
                  <c:v>4</c:v>
                </c:pt>
                <c:pt idx="2">
                  <c:v>8</c:v>
                </c:pt>
                <c:pt idx="3">
                  <c:v>12</c:v>
                </c:pt>
                <c:pt idx="4">
                  <c:v>16</c:v>
                </c:pt>
                <c:pt idx="5">
                  <c:v>24</c:v>
                </c:pt>
                <c:pt idx="6">
                  <c:v>32</c:v>
                </c:pt>
                <c:pt idx="7">
                  <c:v>48</c:v>
                </c:pt>
                <c:pt idx="8">
                  <c:v>64</c:v>
                </c:pt>
              </c:numCache>
            </c:numRef>
          </c:xVal>
          <c:yVal>
            <c:numRef>
              <c:f>'Chart Data'!$B$2:$B$10</c:f>
              <c:numCache>
                <c:formatCode>0.00</c:formatCode>
                <c:ptCount val="9"/>
                <c:pt idx="0">
                  <c:v>1.536373</c:v>
                </c:pt>
                <c:pt idx="1">
                  <c:v>1.536809</c:v>
                </c:pt>
                <c:pt idx="2">
                  <c:v>1.55808</c:v>
                </c:pt>
                <c:pt idx="3">
                  <c:v>1.620212</c:v>
                </c:pt>
                <c:pt idx="4">
                  <c:v>1.639933</c:v>
                </c:pt>
                <c:pt idx="5">
                  <c:v>1.765527</c:v>
                </c:pt>
                <c:pt idx="6">
                  <c:v>1.862878</c:v>
                </c:pt>
                <c:pt idx="7">
                  <c:v>1.949853</c:v>
                </c:pt>
                <c:pt idx="8">
                  <c:v>2.384656</c:v>
                </c:pt>
              </c:numCache>
            </c:numRef>
          </c:yVal>
        </c:ser>
        <c:ser>
          <c:idx val="1"/>
          <c:order val="1"/>
          <c:tx>
            <c:v>Distinct model</c:v>
          </c:tx>
          <c:spPr>
            <a:solidFill xmlns:a="http://schemas.openxmlformats.org/drawingml/2006/main">
              <a:srgbClr val="C4532D"/>
            </a:solidFill>
            <a:ln xmlns:a="http://schemas.openxmlformats.org/drawingml/2006/main" w="23813">
              <a:solidFill>
                <a:srgbClr val="C4532D"/>
              </a:solidFill>
              <a:prstDash val="solid"/>
            </a:ln>
          </c:spPr>
          <c:marker>
            <c:symbol val="none"/>
            <c:size val="6"/>
          </c:marker>
          <c:xVal>
            <c:numRef>
              <c:f>'Chart Data'!$C$2:$C$10</c:f>
              <c:numCache>
                <c:formatCode>General</c:formatCode>
                <c:ptCount val="9"/>
                <c:pt idx="0">
                  <c:v>1</c:v>
                </c:pt>
                <c:pt idx="1">
                  <c:v>4</c:v>
                </c:pt>
                <c:pt idx="2">
                  <c:v>8</c:v>
                </c:pt>
                <c:pt idx="3">
                  <c:v>12</c:v>
                </c:pt>
                <c:pt idx="4">
                  <c:v>16</c:v>
                </c:pt>
                <c:pt idx="5">
                  <c:v>24</c:v>
                </c:pt>
                <c:pt idx="6">
                  <c:v>32</c:v>
                </c:pt>
                <c:pt idx="7">
                  <c:v>48</c:v>
                </c:pt>
                <c:pt idx="8">
                  <c:v>64</c:v>
                </c:pt>
              </c:numCache>
            </c:numRef>
          </c:xVal>
          <c:yVal>
            <c:numRef>
              <c:f>'Chart Data'!$D$2:$D$10</c:f>
              <c:numCache>
                <c:formatCode>0.00</c:formatCode>
                <c:ptCount val="9"/>
                <c:pt idx="0">
                  <c:v>1.536367</c:v>
                </c:pt>
                <c:pt idx="1">
                  <c:v>1.536791</c:v>
                </c:pt>
                <c:pt idx="2">
                  <c:v>1.557924</c:v>
                </c:pt>
                <c:pt idx="3">
                  <c:v>1.619708</c:v>
                </c:pt>
                <c:pt idx="4">
                  <c:v>1.639403</c:v>
                </c:pt>
                <c:pt idx="5">
                  <c:v>1.764867</c:v>
                </c:pt>
                <c:pt idx="6">
                  <c:v>1.862089</c:v>
                </c:pt>
                <c:pt idx="7">
                  <c:v>1.948334</c:v>
                </c:pt>
                <c:pt idx="8">
                  <c:v>2.382571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83247"/>
                    </a:solidFill>
                    <a:latin typeface="Arial"/>
                    <a:ea typeface="Arial"/>
                    <a:cs typeface="Arial"/>
                  </a:rPr>
                  <a:t>Key comparisons (millions)</a:t>
                </a:r>
              </a:p>
            </c:rich>
          </c:tx>
          <c:overlay val="0"/>
          <c:txPr>
            <a:bodyPr xmlns:a="http://schemas.openxmlformats.org/drawingml/2006/main" anchorCtr="1"/>
            <a:lstStyle xmlns:a="http://schemas.openxmlformats.org/drawingml/2006/main"/>
            <a:p xmlns:a="http://schemas.openxmlformats.org/drawingml/2006/main">
              <a:pPr>
                <a:defRPr sz="1500">
                  <a:solidFill>
                    <a:srgbClr val="18324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8616E"/>
                </a:solidFill>
                <a:latin typeface="Arial"/>
                <a:ea typeface="Arial"/>
                <a:cs typeface="Aria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solidFill>
                      <a:srgbClr val="183247"/>
                    </a:solidFill>
                    <a:latin typeface="Arial"/>
                    <a:ea typeface="Arial"/>
                    <a:cs typeface="Arial"/>
                  </a:rPr>
                  <a:t>Threshold S</a:t>
                </a:r>
              </a:p>
            </c:rich>
          </c:tx>
          <c:overlay val="0"/>
          <c:txPr>
            <a:bodyPr xmlns:a="http://schemas.openxmlformats.org/drawingml/2006/main" anchorCtr="1"/>
            <a:lstStyle xmlns:a="http://schemas.openxmlformats.org/drawingml/2006/main"/>
            <a:p xmlns:a="http://schemas.openxmlformats.org/drawingml/2006/main">
              <a:pPr>
                <a:defRPr sz="1500">
                  <a:solidFill>
                    <a:srgbClr val="183247"/>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8616E"/>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8324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83247"/>
                </a:solidFill>
                <a:latin typeface="Arial"/>
                <a:ea typeface="Arial"/>
                <a:cs typeface="Arial"/>
              </a:rPr>
              <a:t>(c)(iii): CPU ratios across n</a:t>
            </a:r>
          </a:p>
        </c:rich>
      </c:tx>
      <c:overlay val="0"/>
      <c:txPr>
        <a:bodyPr xmlns:a="http://schemas.openxmlformats.org/drawingml/2006/main" anchorCtr="1"/>
        <a:lstStyle xmlns:a="http://schemas.openxmlformats.org/drawingml/2006/main"/>
        <a:p xmlns:a="http://schemas.openxmlformats.org/drawingml/2006/main">
          <a:pPr>
            <a:defRPr sz="1800" b="1">
              <a:solidFill>
                <a:srgbClr val="183247"/>
              </a:solidFill>
              <a:latin typeface="Arial"/>
              <a:ea typeface="Arial"/>
              <a:cs typeface="Arial"/>
            </a:defRPr>
          </a:pPr>
        </a:p>
      </c:txPr>
    </c:title>
    <c:plotArea>
      <c:scatterChart>
        <c:scatterStyle val="lineMarker"/>
        <c:ser>
          <c:idx val="0"/>
          <c:order val="0"/>
          <c:tx>
            <c:v>n=1,000</c:v>
          </c:tx>
          <c:spPr>
            <a:solidFill xmlns:a="http://schemas.openxmlformats.org/drawingml/2006/main">
              <a:srgbClr val="166A8F"/>
            </a:solidFill>
            <a:ln xmlns:a="http://schemas.openxmlformats.org/drawingml/2006/main" w="23813">
              <a:solidFill>
                <a:srgbClr val="166A8F"/>
              </a:solidFill>
              <a:prstDash val="solid"/>
            </a:ln>
          </c:spPr>
          <c:marker>
            <c:symbol val="circle"/>
            <c:size val="6"/>
            <c:spPr>
              <a:solidFill xmlns:a="http://schemas.openxmlformats.org/drawingml/2006/main">
                <a:srgbClr val="166A8F"/>
              </a:solidFill>
            </c:spPr>
          </c:marker>
          <c:xVal>
            <c:numRef>
              <c:f>'Chart Data'!$A$2:$A$10</c:f>
              <c:numCache>
                <c:formatCode>General</c:formatCode>
                <c:ptCount val="9"/>
                <c:pt idx="0">
                  <c:v>1</c:v>
                </c:pt>
                <c:pt idx="1">
                  <c:v>4</c:v>
                </c:pt>
                <c:pt idx="2">
                  <c:v>8</c:v>
                </c:pt>
                <c:pt idx="3">
                  <c:v>12</c:v>
                </c:pt>
                <c:pt idx="4">
                  <c:v>16</c:v>
                </c:pt>
                <c:pt idx="5">
                  <c:v>24</c:v>
                </c:pt>
                <c:pt idx="6">
                  <c:v>32</c:v>
                </c:pt>
                <c:pt idx="7">
                  <c:v>48</c:v>
                </c:pt>
                <c:pt idx="8">
                  <c:v>64</c:v>
                </c:pt>
              </c:numCache>
            </c:numRef>
          </c:xVal>
          <c:yVal>
            <c:numRef>
              <c:f>'Chart Data'!$B$2:$B$10</c:f>
              <c:numCache>
                <c:formatCode>0.00</c:formatCode>
                <c:ptCount val="9"/>
                <c:pt idx="0">
                  <c:v>1</c:v>
                </c:pt>
                <c:pt idx="1">
                  <c:v>0.771084</c:v>
                </c:pt>
                <c:pt idx="2">
                  <c:v>0.638554</c:v>
                </c:pt>
                <c:pt idx="3">
                  <c:v>0.650602</c:v>
                </c:pt>
                <c:pt idx="4">
                  <c:v>0.626506</c:v>
                </c:pt>
                <c:pt idx="5">
                  <c:v>0.710843</c:v>
                </c:pt>
                <c:pt idx="6">
                  <c:v>0.722892</c:v>
                </c:pt>
                <c:pt idx="7">
                  <c:v>0.819277</c:v>
                </c:pt>
                <c:pt idx="8">
                  <c:v>1.072289</c:v>
                </c:pt>
              </c:numCache>
            </c:numRef>
          </c:yVal>
        </c:ser>
        <c:ser>
          <c:idx val="1"/>
          <c:order val="1"/>
          <c:tx>
            <c:v>n=10,000</c:v>
          </c:tx>
          <c:spPr>
            <a:solidFill xmlns:a="http://schemas.openxmlformats.org/drawingml/2006/main">
              <a:srgbClr val="C4532D"/>
            </a:solidFill>
            <a:ln xmlns:a="http://schemas.openxmlformats.org/drawingml/2006/main" w="23813">
              <a:solidFill>
                <a:srgbClr val="C4532D"/>
              </a:solidFill>
              <a:prstDash val="solid"/>
            </a:ln>
          </c:spPr>
          <c:marker>
            <c:symbol val="circle"/>
            <c:size val="6"/>
            <c:spPr>
              <a:solidFill xmlns:a="http://schemas.openxmlformats.org/drawingml/2006/main">
                <a:srgbClr val="C4532D"/>
              </a:solidFill>
            </c:spPr>
          </c:marker>
          <c:xVal>
            <c:numRef>
              <c:f>'Chart Data'!$C$2:$C$10</c:f>
              <c:numCache>
                <c:formatCode>General</c:formatCode>
                <c:ptCount val="9"/>
                <c:pt idx="0">
                  <c:v>1</c:v>
                </c:pt>
                <c:pt idx="1">
                  <c:v>4</c:v>
                </c:pt>
                <c:pt idx="2">
                  <c:v>8</c:v>
                </c:pt>
                <c:pt idx="3">
                  <c:v>12</c:v>
                </c:pt>
                <c:pt idx="4">
                  <c:v>16</c:v>
                </c:pt>
                <c:pt idx="5">
                  <c:v>24</c:v>
                </c:pt>
                <c:pt idx="6">
                  <c:v>32</c:v>
                </c:pt>
                <c:pt idx="7">
                  <c:v>48</c:v>
                </c:pt>
                <c:pt idx="8">
                  <c:v>64</c:v>
                </c:pt>
              </c:numCache>
            </c:numRef>
          </c:xVal>
          <c:yVal>
            <c:numRef>
              <c:f>'Chart Data'!$D$2:$D$10</c:f>
              <c:numCache>
                <c:formatCode>0.00</c:formatCode>
                <c:ptCount val="9"/>
                <c:pt idx="0">
                  <c:v>1</c:v>
                </c:pt>
                <c:pt idx="1">
                  <c:v>0.827586</c:v>
                </c:pt>
                <c:pt idx="2">
                  <c:v>0.784483</c:v>
                </c:pt>
                <c:pt idx="3">
                  <c:v>0.75</c:v>
                </c:pt>
                <c:pt idx="4">
                  <c:v>0.793103</c:v>
                </c:pt>
                <c:pt idx="5">
                  <c:v>0.810345</c:v>
                </c:pt>
                <c:pt idx="6">
                  <c:v>0.715517</c:v>
                </c:pt>
                <c:pt idx="7">
                  <c:v>0.887931</c:v>
                </c:pt>
                <c:pt idx="8">
                  <c:v>0.801724</c:v>
                </c:pt>
              </c:numCache>
            </c:numRef>
          </c:yVal>
        </c:ser>
        <c:ser>
          <c:idx val="2"/>
          <c:order val="2"/>
          <c:tx>
            <c:v>n=100,000</c:v>
          </c:tx>
          <c:spPr>
            <a:solidFill xmlns:a="http://schemas.openxmlformats.org/drawingml/2006/main">
              <a:srgbClr val="508238"/>
            </a:solidFill>
            <a:ln xmlns:a="http://schemas.openxmlformats.org/drawingml/2006/main" w="23813">
              <a:solidFill>
                <a:srgbClr val="508238"/>
              </a:solidFill>
              <a:prstDash val="solid"/>
            </a:ln>
          </c:spPr>
          <c:marker>
            <c:symbol val="circle"/>
            <c:size val="6"/>
            <c:spPr>
              <a:solidFill xmlns:a="http://schemas.openxmlformats.org/drawingml/2006/main">
                <a:srgbClr val="508238"/>
              </a:solidFill>
            </c:spPr>
          </c:marker>
          <c:xVal>
            <c:numRef>
              <c:f>'Chart Data'!$E$2:$E$10</c:f>
              <c:numCache>
                <c:formatCode>General</c:formatCode>
                <c:ptCount val="9"/>
                <c:pt idx="0">
                  <c:v>1</c:v>
                </c:pt>
                <c:pt idx="1">
                  <c:v>4</c:v>
                </c:pt>
                <c:pt idx="2">
                  <c:v>8</c:v>
                </c:pt>
                <c:pt idx="3">
                  <c:v>12</c:v>
                </c:pt>
                <c:pt idx="4">
                  <c:v>16</c:v>
                </c:pt>
                <c:pt idx="5">
                  <c:v>24</c:v>
                </c:pt>
                <c:pt idx="6">
                  <c:v>32</c:v>
                </c:pt>
                <c:pt idx="7">
                  <c:v>48</c:v>
                </c:pt>
                <c:pt idx="8">
                  <c:v>64</c:v>
                </c:pt>
              </c:numCache>
            </c:numRef>
          </c:xVal>
          <c:yVal>
            <c:numRef>
              <c:f>'Chart Data'!$F$2:$F$10</c:f>
              <c:numCache>
                <c:formatCode>0.00</c:formatCode>
                <c:ptCount val="9"/>
                <c:pt idx="0">
                  <c:v>1</c:v>
                </c:pt>
                <c:pt idx="1">
                  <c:v>1.119205</c:v>
                </c:pt>
                <c:pt idx="2">
                  <c:v>1</c:v>
                </c:pt>
                <c:pt idx="3">
                  <c:v>0.940397</c:v>
                </c:pt>
                <c:pt idx="4">
                  <c:v>0.993377</c:v>
                </c:pt>
                <c:pt idx="5">
                  <c:v>0.940397</c:v>
                </c:pt>
                <c:pt idx="6">
                  <c:v>0.821192</c:v>
                </c:pt>
                <c:pt idx="7">
                  <c:v>1.07947</c:v>
                </c:pt>
                <c:pt idx="8">
                  <c:v>1.092715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83247"/>
                    </a:solidFill>
                    <a:latin typeface="Arial"/>
                    <a:ea typeface="Arial"/>
                    <a:cs typeface="Arial"/>
                  </a:rPr>
                  <a:t>CPU / S=1 median</a:t>
                </a:r>
              </a:p>
            </c:rich>
          </c:tx>
          <c:overlay val="0"/>
          <c:txPr>
            <a:bodyPr xmlns:a="http://schemas.openxmlformats.org/drawingml/2006/main" anchorCtr="1"/>
            <a:lstStyle xmlns:a="http://schemas.openxmlformats.org/drawingml/2006/main"/>
            <a:p xmlns:a="http://schemas.openxmlformats.org/drawingml/2006/main">
              <a:pPr>
                <a:defRPr sz="1500">
                  <a:solidFill>
                    <a:srgbClr val="18324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8616E"/>
                </a:solidFill>
                <a:latin typeface="Arial"/>
                <a:ea typeface="Arial"/>
                <a:cs typeface="Aria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solidFill>
                      <a:srgbClr val="183247"/>
                    </a:solidFill>
                    <a:latin typeface="Arial"/>
                    <a:ea typeface="Arial"/>
                    <a:cs typeface="Arial"/>
                  </a:rPr>
                  <a:t>Threshold S</a:t>
                </a:r>
              </a:p>
            </c:rich>
          </c:tx>
          <c:overlay val="0"/>
          <c:txPr>
            <a:bodyPr xmlns:a="http://schemas.openxmlformats.org/drawingml/2006/main" anchorCtr="1"/>
            <a:lstStyle xmlns:a="http://schemas.openxmlformats.org/drawingml/2006/main"/>
            <a:p xmlns:a="http://schemas.openxmlformats.org/drawingml/2006/main">
              <a:pPr>
                <a:defRPr sz="1500">
                  <a:solidFill>
                    <a:srgbClr val="183247"/>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8616E"/>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8324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83247"/>
                </a:solidFill>
                <a:latin typeface="Arial"/>
                <a:ea typeface="Arial"/>
                <a:cs typeface="Arial"/>
              </a:rPr>
              <a:t>Confirmation at n=1,000,000</a:t>
            </a:r>
          </a:p>
        </c:rich>
      </c:tx>
      <c:overlay val="0"/>
      <c:txPr>
        <a:bodyPr xmlns:a="http://schemas.openxmlformats.org/drawingml/2006/main" anchorCtr="1"/>
        <a:lstStyle xmlns:a="http://schemas.openxmlformats.org/drawingml/2006/main"/>
        <a:p xmlns:a="http://schemas.openxmlformats.org/drawingml/2006/main">
          <a:pPr>
            <a:defRPr sz="1800" b="1">
              <a:solidFill>
                <a:srgbClr val="183247"/>
              </a:solidFill>
              <a:latin typeface="Arial"/>
              <a:ea typeface="Arial"/>
              <a:cs typeface="Arial"/>
            </a:defRPr>
          </a:pPr>
        </a:p>
      </c:txPr>
    </c:title>
    <c:plotArea>
      <c:scatterChart>
        <c:scatterStyle val="lineMarker"/>
        <c:ser>
          <c:idx val="0"/>
          <c:order val="0"/>
          <c:tx>
            <c:v>Seed 1</c:v>
          </c:tx>
          <c:spPr>
            <a:solidFill xmlns:a="http://schemas.openxmlformats.org/drawingml/2006/main">
              <a:srgbClr val="166A8F"/>
            </a:solidFill>
            <a:ln xmlns:a="http://schemas.openxmlformats.org/drawingml/2006/main" w="23813">
              <a:solidFill>
                <a:srgbClr val="166A8F"/>
              </a:solidFill>
              <a:prstDash val="solid"/>
            </a:ln>
          </c:spPr>
          <c:marker>
            <c:symbol val="circle"/>
            <c:size val="6"/>
            <c:spPr>
              <a:solidFill xmlns:a="http://schemas.openxmlformats.org/drawingml/2006/main">
                <a:srgbClr val="166A8F"/>
              </a:solidFill>
            </c:spPr>
          </c:marker>
          <c:xVal>
            <c:numRef>
              <c:f>'Chart Data'!$A$2:$A$4</c:f>
              <c:numCache>
                <c:formatCode>General</c:formatCode>
                <c:ptCount val="3"/>
                <c:pt idx="0">
                  <c:v>12</c:v>
                </c:pt>
                <c:pt idx="1">
                  <c:v>16</c:v>
                </c:pt>
                <c:pt idx="2">
                  <c:v>32</c:v>
                </c:pt>
              </c:numCache>
            </c:numRef>
          </c:xVal>
          <c:yVal>
            <c:numRef>
              <c:f>'Chart Data'!$B$2:$B$4</c:f>
              <c:numCache>
                <c:formatCode>0.00</c:formatCode>
                <c:ptCount val="3"/>
                <c:pt idx="0">
                  <c:v>2.546875</c:v>
                </c:pt>
                <c:pt idx="1">
                  <c:v>4.53125</c:v>
                </c:pt>
                <c:pt idx="2">
                  <c:v>2.578125</c:v>
                </c:pt>
              </c:numCache>
            </c:numRef>
          </c:yVal>
        </c:ser>
        <c:ser>
          <c:idx val="1"/>
          <c:order val="1"/>
          <c:tx>
            <c:v>Seed 2</c:v>
          </c:tx>
          <c:spPr>
            <a:solidFill xmlns:a="http://schemas.openxmlformats.org/drawingml/2006/main">
              <a:srgbClr val="C4532D"/>
            </a:solidFill>
            <a:ln xmlns:a="http://schemas.openxmlformats.org/drawingml/2006/main" w="23813">
              <a:solidFill>
                <a:srgbClr val="C4532D"/>
              </a:solidFill>
              <a:prstDash val="solid"/>
            </a:ln>
          </c:spPr>
          <c:marker>
            <c:symbol val="circle"/>
            <c:size val="6"/>
            <c:spPr>
              <a:solidFill xmlns:a="http://schemas.openxmlformats.org/drawingml/2006/main">
                <a:srgbClr val="C4532D"/>
              </a:solidFill>
            </c:spPr>
          </c:marker>
          <c:xVal>
            <c:numRef>
              <c:f>'Chart Data'!$C$2:$C$4</c:f>
              <c:numCache>
                <c:formatCode>General</c:formatCode>
                <c:ptCount val="3"/>
                <c:pt idx="0">
                  <c:v>12</c:v>
                </c:pt>
                <c:pt idx="1">
                  <c:v>16</c:v>
                </c:pt>
                <c:pt idx="2">
                  <c:v>32</c:v>
                </c:pt>
              </c:numCache>
            </c:numRef>
          </c:xVal>
          <c:yVal>
            <c:numRef>
              <c:f>'Chart Data'!$D$2:$D$4</c:f>
              <c:numCache>
                <c:formatCode>0.00</c:formatCode>
                <c:ptCount val="3"/>
                <c:pt idx="0">
                  <c:v>2.828125</c:v>
                </c:pt>
                <c:pt idx="1">
                  <c:v>2.828125</c:v>
                </c:pt>
                <c:pt idx="2">
                  <c:v>2.78125</c:v>
                </c:pt>
              </c:numCache>
            </c:numRef>
          </c:yVal>
        </c:ser>
        <c:ser>
          <c:idx val="2"/>
          <c:order val="2"/>
          <c:tx>
            <c:v>Seed 3</c:v>
          </c:tx>
          <c:spPr>
            <a:solidFill xmlns:a="http://schemas.openxmlformats.org/drawingml/2006/main">
              <a:srgbClr val="508238"/>
            </a:solidFill>
            <a:ln xmlns:a="http://schemas.openxmlformats.org/drawingml/2006/main" w="23813">
              <a:solidFill>
                <a:srgbClr val="508238"/>
              </a:solidFill>
              <a:prstDash val="solid"/>
            </a:ln>
          </c:spPr>
          <c:marker>
            <c:symbol val="circle"/>
            <c:size val="6"/>
            <c:spPr>
              <a:solidFill xmlns:a="http://schemas.openxmlformats.org/drawingml/2006/main">
                <a:srgbClr val="508238"/>
              </a:solidFill>
            </c:spPr>
          </c:marker>
          <c:xVal>
            <c:numRef>
              <c:f>'Chart Data'!$E$2:$E$4</c:f>
              <c:numCache>
                <c:formatCode>General</c:formatCode>
                <c:ptCount val="3"/>
                <c:pt idx="0">
                  <c:v>12</c:v>
                </c:pt>
                <c:pt idx="1">
                  <c:v>16</c:v>
                </c:pt>
                <c:pt idx="2">
                  <c:v>32</c:v>
                </c:pt>
              </c:numCache>
            </c:numRef>
          </c:xVal>
          <c:yVal>
            <c:numRef>
              <c:f>'Chart Data'!$F$2:$F$4</c:f>
              <c:numCache>
                <c:formatCode>0.00</c:formatCode>
                <c:ptCount val="3"/>
                <c:pt idx="0">
                  <c:v>2.78125</c:v>
                </c:pt>
                <c:pt idx="1">
                  <c:v>2.5</c:v>
                </c:pt>
                <c:pt idx="2">
                  <c:v>2.84375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83247"/>
                    </a:solidFill>
                    <a:latin typeface="Arial"/>
                    <a:ea typeface="Arial"/>
                    <a:cs typeface="Arial"/>
                  </a:rPr>
                  <a:t>CPU seconds</a:t>
                </a:r>
              </a:p>
            </c:rich>
          </c:tx>
          <c:overlay val="0"/>
          <c:txPr>
            <a:bodyPr xmlns:a="http://schemas.openxmlformats.org/drawingml/2006/main" anchorCtr="1"/>
            <a:lstStyle xmlns:a="http://schemas.openxmlformats.org/drawingml/2006/main"/>
            <a:p xmlns:a="http://schemas.openxmlformats.org/drawingml/2006/main">
              <a:pPr>
                <a:defRPr sz="1500">
                  <a:solidFill>
                    <a:srgbClr val="18324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8616E"/>
                </a:solidFill>
                <a:latin typeface="Arial"/>
                <a:ea typeface="Arial"/>
                <a:cs typeface="Aria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solidFill>
                      <a:srgbClr val="183247"/>
                    </a:solidFill>
                    <a:latin typeface="Arial"/>
                    <a:ea typeface="Arial"/>
                    <a:cs typeface="Arial"/>
                  </a:rPr>
                  <a:t>Threshold S</a:t>
                </a:r>
              </a:p>
            </c:rich>
          </c:tx>
          <c:overlay val="0"/>
          <c:txPr>
            <a:bodyPr xmlns:a="http://schemas.openxmlformats.org/drawingml/2006/main" anchorCtr="1"/>
            <a:lstStyle xmlns:a="http://schemas.openxmlformats.org/drawingml/2006/main"/>
            <a:p xmlns:a="http://schemas.openxmlformats.org/drawingml/2006/main">
              <a:pPr>
                <a:defRPr sz="1500">
                  <a:solidFill>
                    <a:srgbClr val="183247"/>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8616E"/>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8324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83247"/>
                </a:solidFill>
                <a:latin typeface="Arial"/>
                <a:ea typeface="Arial"/>
                <a:cs typeface="Arial"/>
              </a:rPr>
              <a:t>(d): uncounted CPU time</a:t>
            </a:r>
          </a:p>
        </c:rich>
      </c:tx>
      <c:overlay val="0"/>
      <c:txPr>
        <a:bodyPr xmlns:a="http://schemas.openxmlformats.org/drawingml/2006/main" anchorCtr="1"/>
        <a:lstStyle xmlns:a="http://schemas.openxmlformats.org/drawingml/2006/main"/>
        <a:p xmlns:a="http://schemas.openxmlformats.org/drawingml/2006/main">
          <a:pPr>
            <a:defRPr sz="1800" b="1">
              <a:solidFill>
                <a:srgbClr val="183247"/>
              </a:solidFill>
              <a:latin typeface="Arial"/>
              <a:ea typeface="Arial"/>
              <a:cs typeface="Arial"/>
            </a:defRPr>
          </a:pPr>
        </a:p>
      </c:txPr>
    </c:title>
    <c:plotArea>
      <c:lineChart>
        <c:grouping val="standard"/>
        <c:ser>
          <c:idx val="0"/>
          <c:order val="0"/>
          <c:tx>
            <c:v>Seed 1</c:v>
          </c:tx>
          <c:spPr>
            <a:solidFill xmlns:a="http://schemas.openxmlformats.org/drawingml/2006/main">
              <a:srgbClr val="166A8F"/>
            </a:solidFill>
            <a:ln xmlns:a="http://schemas.openxmlformats.org/drawingml/2006/main" w="23813">
              <a:solidFill>
                <a:srgbClr val="166A8F"/>
              </a:solidFill>
              <a:prstDash val="solid"/>
            </a:ln>
          </c:spPr>
          <c:marker>
            <c:symbol val="circle"/>
            <c:size val="6"/>
            <c:spPr>
              <a:solidFill xmlns:a="http://schemas.openxmlformats.org/drawingml/2006/main">
                <a:srgbClr val="166A8F"/>
              </a:solidFill>
            </c:spPr>
          </c:marker>
          <c:cat>
            <c:strRef>
              <c:f>'Chart Data'!$A$2:$A$3</c:f>
              <c:strCache>
                <c:ptCount val="2"/>
                <c:pt idx="0">
                  <c:v>Original</c:v>
                </c:pt>
                <c:pt idx="1">
                  <c:v>Hybrid S=12</c:v>
                </c:pt>
              </c:strCache>
            </c:strRef>
          </c:cat>
          <c:val>
            <c:numRef>
              <c:f>'Chart Data'!$B$2:$B$3</c:f>
              <c:numCache>
                <c:formatCode>0.00</c:formatCode>
                <c:ptCount val="2"/>
                <c:pt idx="0">
                  <c:v>78.96875</c:v>
                </c:pt>
                <c:pt idx="1">
                  <c:v>85</c:v>
                </c:pt>
              </c:numCache>
            </c:numRef>
          </c:val>
        </c:ser>
        <c:ser>
          <c:idx val="1"/>
          <c:order val="1"/>
          <c:tx>
            <c:v>Seed 2</c:v>
          </c:tx>
          <c:spPr>
            <a:solidFill xmlns:a="http://schemas.openxmlformats.org/drawingml/2006/main">
              <a:srgbClr val="C4532D"/>
            </a:solidFill>
            <a:ln xmlns:a="http://schemas.openxmlformats.org/drawingml/2006/main" w="23813">
              <a:solidFill>
                <a:srgbClr val="C4532D"/>
              </a:solidFill>
              <a:prstDash val="solid"/>
            </a:ln>
          </c:spPr>
          <c:marker>
            <c:symbol val="circle"/>
            <c:size val="6"/>
            <c:spPr>
              <a:solidFill xmlns:a="http://schemas.openxmlformats.org/drawingml/2006/main">
                <a:srgbClr val="C4532D"/>
              </a:solidFill>
            </c:spPr>
          </c:marker>
          <c:cat>
            <c:strRef>
              <c:f>'Chart Data'!$C$2:$C$3</c:f>
              <c:strCache>
                <c:ptCount val="2"/>
                <c:pt idx="0">
                  <c:v>Original</c:v>
                </c:pt>
                <c:pt idx="1">
                  <c:v>Hybrid S=12</c:v>
                </c:pt>
              </c:strCache>
            </c:strRef>
          </c:cat>
          <c:val>
            <c:numRef>
              <c:f>'Chart Data'!$D$2:$D$3</c:f>
              <c:numCache>
                <c:formatCode>0.00</c:formatCode>
                <c:ptCount val="2"/>
                <c:pt idx="0">
                  <c:v>92.09375</c:v>
                </c:pt>
                <c:pt idx="1">
                  <c:v>99.90625</c:v>
                </c:pt>
              </c:numCache>
            </c:numRef>
          </c:val>
        </c:ser>
        <c:ser>
          <c:idx val="2"/>
          <c:order val="2"/>
          <c:tx>
            <c:v>Seed 3</c:v>
          </c:tx>
          <c:spPr>
            <a:solidFill xmlns:a="http://schemas.openxmlformats.org/drawingml/2006/main">
              <a:srgbClr val="508238"/>
            </a:solidFill>
            <a:ln xmlns:a="http://schemas.openxmlformats.org/drawingml/2006/main" w="23813">
              <a:solidFill>
                <a:srgbClr val="508238"/>
              </a:solidFill>
              <a:prstDash val="solid"/>
            </a:ln>
          </c:spPr>
          <c:marker>
            <c:symbol val="circle"/>
            <c:size val="6"/>
            <c:spPr>
              <a:solidFill xmlns:a="http://schemas.openxmlformats.org/drawingml/2006/main">
                <a:srgbClr val="508238"/>
              </a:solidFill>
            </c:spPr>
          </c:marker>
          <c:cat>
            <c:strRef>
              <c:f>'Chart Data'!$E$2:$E$3</c:f>
              <c:strCache>
                <c:ptCount val="2"/>
                <c:pt idx="0">
                  <c:v>Original</c:v>
                </c:pt>
                <c:pt idx="1">
                  <c:v>Hybrid S=12</c:v>
                </c:pt>
              </c:strCache>
            </c:strRef>
          </c:cat>
          <c:val>
            <c:numRef>
              <c:f>'Chart Data'!$F$2:$F$3</c:f>
              <c:numCache>
                <c:formatCode>0.00</c:formatCode>
                <c:ptCount val="2"/>
                <c:pt idx="0">
                  <c:v>92.515625</c:v>
                </c:pt>
                <c:pt idx="1">
                  <c:v>94.078125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solidFill>
                      <a:srgbClr val="183247"/>
                    </a:solidFill>
                    <a:latin typeface="Arial"/>
                    <a:ea typeface="Arial"/>
                    <a:cs typeface="Arial"/>
                  </a:rPr>
                  <a:t>Algorithm</a:t>
                </a:r>
              </a:p>
            </c:rich>
          </c:tx>
          <c:overlay val="0"/>
          <c:txPr>
            <a:bodyPr xmlns:a="http://schemas.openxmlformats.org/drawingml/2006/main" anchorCtr="1"/>
            <a:lstStyle xmlns:a="http://schemas.openxmlformats.org/drawingml/2006/main"/>
            <a:p xmlns:a="http://schemas.openxmlformats.org/drawingml/2006/main">
              <a:pPr>
                <a:defRPr sz="1500">
                  <a:solidFill>
                    <a:srgbClr val="183247"/>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8616E"/>
                </a:solidFill>
                <a:latin typeface="Arial"/>
                <a:ea typeface="Arial"/>
                <a:cs typeface="Arial"/>
              </a:defRPr>
            </a:pPr>
          </a:p>
        </c:txPr>
        <c:crossAx val="48672768"/>
      </c:catAx>
      <c:valAx>
        <c:axId val="48672768"/>
        <c:scaling>
          <c:orientation val="minMax"/>
          <c:max val="111.89500000000001"/>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83247"/>
                    </a:solidFill>
                    <a:latin typeface="Arial"/>
                    <a:ea typeface="Arial"/>
                    <a:cs typeface="Arial"/>
                  </a:rPr>
                  <a:t>CPU seconds</a:t>
                </a:r>
              </a:p>
            </c:rich>
          </c:tx>
          <c:overlay val="0"/>
          <c:txPr>
            <a:bodyPr xmlns:a="http://schemas.openxmlformats.org/drawingml/2006/main" anchorCtr="1"/>
            <a:lstStyle xmlns:a="http://schemas.openxmlformats.org/drawingml/2006/main"/>
            <a:p xmlns:a="http://schemas.openxmlformats.org/drawingml/2006/main">
              <a:pPr>
                <a:defRPr sz="1500">
                  <a:solidFill>
                    <a:srgbClr val="183247"/>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8616E"/>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8324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83247"/>
                </a:solidFill>
                <a:latin typeface="Arial"/>
                <a:ea typeface="Arial"/>
                <a:cs typeface="Arial"/>
              </a:rPr>
              <a:t>Separate counted runs</a:t>
            </a:r>
          </a:p>
        </c:rich>
      </c:tx>
      <c:overlay val="0"/>
      <c:txPr>
        <a:bodyPr xmlns:a="http://schemas.openxmlformats.org/drawingml/2006/main" anchorCtr="1"/>
        <a:lstStyle xmlns:a="http://schemas.openxmlformats.org/drawingml/2006/main"/>
        <a:p xmlns:a="http://schemas.openxmlformats.org/drawingml/2006/main">
          <a:pPr>
            <a:defRPr sz="1800" b="1">
              <a:solidFill>
                <a:srgbClr val="183247"/>
              </a:solidFill>
              <a:latin typeface="Arial"/>
              <a:ea typeface="Arial"/>
              <a:cs typeface="Arial"/>
            </a:defRPr>
          </a:pPr>
        </a:p>
      </c:txPr>
    </c:title>
    <c:plotArea>
      <c:lineChart>
        <c:grouping val="standard"/>
        <c:ser>
          <c:idx val="0"/>
          <c:order val="0"/>
          <c:tx>
            <c:v>Seed 1</c:v>
          </c:tx>
          <c:spPr>
            <a:solidFill xmlns:a="http://schemas.openxmlformats.org/drawingml/2006/main">
              <a:srgbClr val="166A8F"/>
            </a:solidFill>
            <a:ln xmlns:a="http://schemas.openxmlformats.org/drawingml/2006/main" w="23813">
              <a:solidFill>
                <a:srgbClr val="166A8F"/>
              </a:solidFill>
              <a:prstDash val="solid"/>
            </a:ln>
          </c:spPr>
          <c:marker>
            <c:symbol val="circle"/>
            <c:size val="6"/>
            <c:spPr>
              <a:solidFill xmlns:a="http://schemas.openxmlformats.org/drawingml/2006/main">
                <a:srgbClr val="166A8F"/>
              </a:solidFill>
            </c:spPr>
          </c:marker>
          <c:cat>
            <c:strRef>
              <c:f>'Chart Data'!$A$2:$A$3</c:f>
              <c:strCache>
                <c:ptCount val="2"/>
                <c:pt idx="0">
                  <c:v>Original</c:v>
                </c:pt>
                <c:pt idx="1">
                  <c:v>Hybrid S=12</c:v>
                </c:pt>
              </c:strCache>
            </c:strRef>
          </c:cat>
          <c:val>
            <c:numRef>
              <c:f>'Chart Data'!$B$2:$B$3</c:f>
              <c:numCache>
                <c:formatCode>0.00</c:formatCode>
                <c:ptCount val="2"/>
                <c:pt idx="0">
                  <c:v>220.095927</c:v>
                </c:pt>
                <c:pt idx="1">
                  <c:v>226.418149</c:v>
                </c:pt>
              </c:numCache>
            </c:numRef>
          </c:val>
        </c:ser>
        <c:ser>
          <c:idx val="1"/>
          <c:order val="1"/>
          <c:tx>
            <c:v>Seed 2</c:v>
          </c:tx>
          <c:spPr>
            <a:solidFill xmlns:a="http://schemas.openxmlformats.org/drawingml/2006/main">
              <a:srgbClr val="C4532D"/>
            </a:solidFill>
            <a:ln xmlns:a="http://schemas.openxmlformats.org/drawingml/2006/main" w="23813">
              <a:solidFill>
                <a:srgbClr val="C4532D"/>
              </a:solidFill>
              <a:prstDash val="solid"/>
            </a:ln>
          </c:spPr>
          <c:marker>
            <c:symbol val="circle"/>
            <c:size val="6"/>
            <c:spPr>
              <a:solidFill xmlns:a="http://schemas.openxmlformats.org/drawingml/2006/main">
                <a:srgbClr val="C4532D"/>
              </a:solidFill>
            </c:spPr>
          </c:marker>
          <c:cat>
            <c:strRef>
              <c:f>'Chart Data'!$C$2:$C$3</c:f>
              <c:strCache>
                <c:ptCount val="2"/>
                <c:pt idx="0">
                  <c:v>Original</c:v>
                </c:pt>
                <c:pt idx="1">
                  <c:v>Hybrid S=12</c:v>
                </c:pt>
              </c:strCache>
            </c:strRef>
          </c:cat>
          <c:val>
            <c:numRef>
              <c:f>'Chart Data'!$D$2:$D$3</c:f>
              <c:numCache>
                <c:formatCode>0.00</c:formatCode>
                <c:ptCount val="2"/>
                <c:pt idx="0">
                  <c:v>220.099689</c:v>
                </c:pt>
                <c:pt idx="1">
                  <c:v>226.424963</c:v>
                </c:pt>
              </c:numCache>
            </c:numRef>
          </c:val>
        </c:ser>
        <c:ser>
          <c:idx val="2"/>
          <c:order val="2"/>
          <c:tx>
            <c:v>Seed 3</c:v>
          </c:tx>
          <c:spPr>
            <a:solidFill xmlns:a="http://schemas.openxmlformats.org/drawingml/2006/main">
              <a:srgbClr val="508238"/>
            </a:solidFill>
            <a:ln xmlns:a="http://schemas.openxmlformats.org/drawingml/2006/main" w="23813">
              <a:solidFill>
                <a:srgbClr val="508238"/>
              </a:solidFill>
              <a:prstDash val="solid"/>
            </a:ln>
          </c:spPr>
          <c:marker>
            <c:symbol val="circle"/>
            <c:size val="6"/>
            <c:spPr>
              <a:solidFill xmlns:a="http://schemas.openxmlformats.org/drawingml/2006/main">
                <a:srgbClr val="508238"/>
              </a:solidFill>
            </c:spPr>
          </c:marker>
          <c:cat>
            <c:strRef>
              <c:f>'Chart Data'!$E$2:$E$3</c:f>
              <c:strCache>
                <c:ptCount val="2"/>
                <c:pt idx="0">
                  <c:v>Original</c:v>
                </c:pt>
                <c:pt idx="1">
                  <c:v>Hybrid S=12</c:v>
                </c:pt>
              </c:strCache>
            </c:strRef>
          </c:cat>
          <c:val>
            <c:numRef>
              <c:f>'Chart Data'!$F$2:$F$3</c:f>
              <c:numCache>
                <c:formatCode>0.00</c:formatCode>
                <c:ptCount val="2"/>
                <c:pt idx="0">
                  <c:v>220.101452</c:v>
                </c:pt>
                <c:pt idx="1">
                  <c:v>226.417959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solidFill>
                      <a:srgbClr val="183247"/>
                    </a:solidFill>
                    <a:latin typeface="Arial"/>
                    <a:ea typeface="Arial"/>
                    <a:cs typeface="Arial"/>
                  </a:rPr>
                  <a:t>Algorithm</a:t>
                </a:r>
              </a:p>
            </c:rich>
          </c:tx>
          <c:overlay val="0"/>
          <c:txPr>
            <a:bodyPr xmlns:a="http://schemas.openxmlformats.org/drawingml/2006/main" anchorCtr="1"/>
            <a:lstStyle xmlns:a="http://schemas.openxmlformats.org/drawingml/2006/main"/>
            <a:p xmlns:a="http://schemas.openxmlformats.org/drawingml/2006/main">
              <a:pPr>
                <a:defRPr sz="1500">
                  <a:solidFill>
                    <a:srgbClr val="183247"/>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8616E"/>
                </a:solidFill>
                <a:latin typeface="Arial"/>
                <a:ea typeface="Arial"/>
                <a:cs typeface="Arial"/>
              </a:defRPr>
            </a:pPr>
          </a:p>
        </c:txPr>
        <c:crossAx val="48672768"/>
      </c:catAx>
      <c:valAx>
        <c:axId val="48672768"/>
        <c:scaling>
          <c:orientation val="minMax"/>
          <c:max val="253.59595856"/>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83247"/>
                    </a:solidFill>
                    <a:latin typeface="Arial"/>
                    <a:ea typeface="Arial"/>
                    <a:cs typeface="Arial"/>
                  </a:rPr>
                  <a:t>Comparisons (millions)</a:t>
                </a:r>
              </a:p>
            </c:rich>
          </c:tx>
          <c:overlay val="0"/>
          <c:txPr>
            <a:bodyPr xmlns:a="http://schemas.openxmlformats.org/drawingml/2006/main" anchorCtr="1"/>
            <a:lstStyle xmlns:a="http://schemas.openxmlformats.org/drawingml/2006/main"/>
            <a:p xmlns:a="http://schemas.openxmlformats.org/drawingml/2006/main">
              <a:pPr>
                <a:defRPr sz="1500">
                  <a:solidFill>
                    <a:srgbClr val="183247"/>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8616E"/>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8324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B5EB460-A600-409B-971A-AE48AA78018F}"/>
              </a:ext>
            </a:extLst>
          </p:cNvPr>
          <p:cNvSpPr>
            <a:spLocks xmlns:a="http://schemas.openxmlformats.org/drawingml/2006/main" noGrp="1"/>
          </p:cNvSpPr>
          <p:nvPr/>
        </p:nvSpPr>
        <p:spPr>
          <a:xfrm xmlns:a="http://schemas.openxmlformats.org/drawingml/2006/main">
            <a:off x="685800" y="742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6A8F"/>
                </a:solidFill>
                <a:latin typeface="Arial"/>
                <a:ea typeface="Arial"/>
                <a:cs typeface="Arial"/>
              </a:defRPr>
            </a:pPr>
            <a:r>
              <a:rPr sz="2250" b="0">
                <a:solidFill>
                  <a:srgbClr val="166A8F"/>
                </a:solidFill>
                <a:latin typeface="Arial"/>
                <a:ea typeface="Arial"/>
                <a:cs typeface="Arial"/>
              </a:rPr>
              <a:t>SC2001 Project 1</a:t>
            </a:r>
          </a:p>
        </p:txBody>
      </p:sp>
      <p:sp>
        <p:nvSpPr>
          <p:cNvPr id="2" name="">
            <a:extLst xmlns:a="http://schemas.openxmlformats.org/drawingml/2006/main">
              <a:ext uri="{FF2B5EF4-FFF2-40B4-BE49-F238E27FC236}">
                <a16:creationId xmlns:a16="http://schemas.microsoft.com/office/drawing/2014/main" id="{F7015D02-99AC-43AB-97FB-93C997006401}"/>
              </a:ext>
            </a:extLst>
          </p:cNvPr>
          <p:cNvSpPr>
            <a:spLocks xmlns:a="http://schemas.openxmlformats.org/drawingml/2006/main" noGrp="1"/>
          </p:cNvSpPr>
          <p:nvPr/>
        </p:nvSpPr>
        <p:spPr>
          <a:xfrm xmlns:a="http://schemas.openxmlformats.org/drawingml/2006/main">
            <a:off x="685800" y="1762125"/>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83247"/>
                </a:solidFill>
                <a:latin typeface="Arial"/>
                <a:ea typeface="Arial"/>
                <a:cs typeface="Arial"/>
              </a:defRPr>
            </a:pPr>
            <a:r>
              <a:rPr sz="4350" b="1">
                <a:solidFill>
                  <a:srgbClr val="183247"/>
                </a:solidFill>
                <a:latin typeface="Arial"/>
                <a:ea typeface="Arial"/>
                <a:cs typeface="Arial"/>
              </a:rPr>
              <a:t>Integration of Merge Sort</a:t>
            </a:r>
          </a:p>
          <a:p xmlns:a="http://schemas.openxmlformats.org/drawingml/2006/main">
            <a:pPr>
              <a:defRPr sz="4350" b="1">
                <a:solidFill>
                  <a:srgbClr val="183247"/>
                </a:solidFill>
                <a:latin typeface="Arial"/>
                <a:ea typeface="Arial"/>
                <a:cs typeface="Arial"/>
              </a:defRPr>
            </a:pPr>
            <a:r>
              <a:rPr sz="4350" b="1">
                <a:solidFill>
                  <a:srgbClr val="183247"/>
                </a:solidFill>
                <a:latin typeface="Arial"/>
                <a:ea typeface="Arial"/>
                <a:cs typeface="Arial"/>
              </a:rPr>
              <a:t>&amp; Insertion Sort</a:t>
            </a:r>
          </a:p>
        </p:txBody>
      </p:sp>
      <p:sp>
        <p:nvSpPr>
          <p:cNvPr id="3" name="">
            <a:extLst xmlns:a="http://schemas.openxmlformats.org/drawingml/2006/main">
              <a:ext uri="{FF2B5EF4-FFF2-40B4-BE49-F238E27FC236}">
                <a16:creationId xmlns:a16="http://schemas.microsoft.com/office/drawing/2014/main" id="{0134B99C-5F7A-428C-BD0A-BBAC5D45AE82}"/>
              </a:ext>
            </a:extLst>
          </p:cNvPr>
          <p:cNvSpPr>
            <a:spLocks xmlns:a="http://schemas.openxmlformats.org/drawingml/2006/main" noGrp="1"/>
          </p:cNvSpPr>
          <p:nvPr/>
        </p:nvSpPr>
        <p:spPr>
          <a:xfrm xmlns:a="http://schemas.openxmlformats.org/drawingml/2006/main">
            <a:off x="723900" y="428625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48616E"/>
                </a:solidFill>
                <a:latin typeface="Arial"/>
                <a:ea typeface="Arial"/>
                <a:cs typeface="Arial"/>
              </a:defRPr>
            </a:pPr>
            <a:r>
              <a:rPr sz="2325" b="0">
                <a:solidFill>
                  <a:srgbClr val="48616E"/>
                </a:solidFill>
                <a:latin typeface="Arial"/>
                <a:ea typeface="Arial"/>
                <a:cs typeface="Arial"/>
              </a:rPr>
              <a:t>Handwritten Python algorithms</a:t>
            </a:r>
          </a:p>
          <a:p xmlns:a="http://schemas.openxmlformats.org/drawingml/2006/main">
            <a:pPr>
              <a:defRPr sz="2325" b="0">
                <a:solidFill>
                  <a:srgbClr val="48616E"/>
                </a:solidFill>
                <a:latin typeface="Arial"/>
                <a:ea typeface="Arial"/>
                <a:cs typeface="Arial"/>
              </a:defRPr>
            </a:pPr>
            <a:r>
              <a:rPr sz="2325" b="0">
                <a:solidFill>
                  <a:srgbClr val="48616E"/>
                </a:solidFill>
                <a:latin typeface="Arial"/>
                <a:ea typeface="Arial"/>
                <a:cs typeface="Arial"/>
              </a:rPr>
              <a:t>Measured inputs from 1,000 to 10,000,000 integers</a:t>
            </a:r>
          </a:p>
        </p:txBody>
      </p:sp>
    </p:spTree>
    <p:extLst>
      <p:ext uri="{BB962C8B-B14F-4D97-AF65-F5344CB8AC3E}">
        <p14:creationId xmlns:p14="http://schemas.microsoft.com/office/powerpoint/2010/main" val="89146558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17B0AD-5428-4337-96EA-4BD114EE3800}"/>
              </a:ext>
            </a:extLst>
          </p:cNvPr>
          <p:cNvSpPr>
            <a:spLocks xmlns:a="http://schemas.openxmlformats.org/drawingml/2006/main" noGrp="1"/>
          </p:cNvSpPr>
          <p:nvPr/>
        </p:nvSpPr>
        <p:spPr>
          <a:xfrm xmlns:a="http://schemas.openxmlformats.org/drawingml/2006/main">
            <a:off x="571500" y="333375"/>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247"/>
                </a:solidFill>
                <a:latin typeface="Arial"/>
                <a:ea typeface="Arial"/>
                <a:cs typeface="Arial"/>
              </a:defRPr>
            </a:pPr>
            <a:r>
              <a:rPr sz="3150" b="1">
                <a:solidFill>
                  <a:srgbClr val="183247"/>
                </a:solidFill>
                <a:latin typeface="Arial"/>
                <a:ea typeface="Arial"/>
                <a:cs typeface="Arial"/>
              </a:rPr>
              <a:t>The hybrid algorithm</a:t>
            </a:r>
          </a:p>
        </p:txBody>
      </p:sp>
      <p:sp>
        <p:nvSpPr>
          <p:cNvPr id="2" name="">
            <a:extLst xmlns:a="http://schemas.openxmlformats.org/drawingml/2006/main">
              <a:ext uri="{FF2B5EF4-FFF2-40B4-BE49-F238E27FC236}">
                <a16:creationId xmlns:a16="http://schemas.microsoft.com/office/drawing/2014/main" id="{6A51E3E1-8E34-4B48-B893-D8FB35DA43B9}"/>
              </a:ext>
            </a:extLst>
          </p:cNvPr>
          <p:cNvSpPr>
            <a:spLocks xmlns:a="http://schemas.openxmlformats.org/drawingml/2006/main" noGrp="1"/>
          </p:cNvSpPr>
          <p:nvPr/>
        </p:nvSpPr>
        <p:spPr>
          <a:xfrm xmlns:a="http://schemas.openxmlformats.org/drawingml/2006/main">
            <a:off x="571500" y="1457325"/>
            <a:ext cx="5572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6A8F"/>
                </a:solidFill>
                <a:latin typeface="Arial"/>
                <a:ea typeface="Arial"/>
                <a:cs typeface="Arial"/>
              </a:defRPr>
            </a:pPr>
            <a:r>
              <a:rPr sz="2025" b="1">
                <a:solidFill>
                  <a:srgbClr val="166A8F"/>
                </a:solidFill>
                <a:latin typeface="Arial"/>
                <a:ea typeface="Arial"/>
                <a:cs typeface="Arial"/>
              </a:rPr>
              <a:t>Stop splitting when the range has at most S items</a:t>
            </a:r>
          </a:p>
        </p:txBody>
      </p:sp>
      <p:sp>
        <p:nvSpPr>
          <p:cNvPr id="3" name="">
            <a:extLst xmlns:a="http://schemas.openxmlformats.org/drawingml/2006/main">
              <a:ext uri="{FF2B5EF4-FFF2-40B4-BE49-F238E27FC236}">
                <a16:creationId xmlns:a16="http://schemas.microsoft.com/office/drawing/2014/main" id="{97F86B82-09E9-4D8E-A814-D929EACE72DC}"/>
              </a:ext>
            </a:extLst>
          </p:cNvPr>
          <p:cNvSpPr>
            <a:spLocks xmlns:a="http://schemas.openxmlformats.org/drawingml/2006/main" noGrp="1"/>
          </p:cNvSpPr>
          <p:nvPr/>
        </p:nvSpPr>
        <p:spPr>
          <a:xfrm xmlns:a="http://schemas.openxmlformats.org/drawingml/2006/main">
            <a:off x="619125" y="2324100"/>
            <a:ext cx="561975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hybrid(A, lo, hi, S)</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  if hi-lo &lt;= S:</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    insertion(A, lo, hi)</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    return</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  mid = lo + (hi-lo)//2</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  hybrid(A, lo, mid, S)</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  hybrid(A, mid, hi, S)</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  merge(A, lo, mid, hi)</a:t>
            </a:r>
          </a:p>
        </p:txBody>
      </p:sp>
      <p:sp>
        <p:nvSpPr>
          <p:cNvPr id="4" name="">
            <a:extLst xmlns:a="http://schemas.openxmlformats.org/drawingml/2006/main">
              <a:ext uri="{FF2B5EF4-FFF2-40B4-BE49-F238E27FC236}">
                <a16:creationId xmlns:a16="http://schemas.microsoft.com/office/drawing/2014/main" id="{69E77838-E55F-4AB6-86CB-B93C94E692F8}"/>
              </a:ext>
            </a:extLst>
          </p:cNvPr>
          <p:cNvSpPr>
            <a:spLocks xmlns:a="http://schemas.openxmlformats.org/drawingml/2006/main" noGrp="1"/>
          </p:cNvSpPr>
          <p:nvPr/>
        </p:nvSpPr>
        <p:spPr>
          <a:xfrm xmlns:a="http://schemas.openxmlformats.org/drawingml/2006/main">
            <a:off x="6743700" y="14573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C4532D"/>
                </a:solidFill>
                <a:latin typeface="Arial"/>
                <a:ea typeface="Arial"/>
                <a:cs typeface="Arial"/>
              </a:defRPr>
            </a:pPr>
            <a:r>
              <a:rPr sz="2175" b="1">
                <a:solidFill>
                  <a:srgbClr val="C4532D"/>
                </a:solidFill>
                <a:latin typeface="Arial"/>
                <a:ea typeface="Arial"/>
                <a:cs typeface="Arial"/>
              </a:rPr>
              <a:t>Worked example: S=3</a:t>
            </a:r>
          </a:p>
        </p:txBody>
      </p:sp>
      <p:sp>
        <p:nvSpPr>
          <p:cNvPr id="5" name="">
            <a:extLst xmlns:a="http://schemas.openxmlformats.org/drawingml/2006/main">
              <a:ext uri="{FF2B5EF4-FFF2-40B4-BE49-F238E27FC236}">
                <a16:creationId xmlns:a16="http://schemas.microsoft.com/office/drawing/2014/main" id="{F507E540-40B0-403F-8AE1-6BCE6AED6B63}"/>
              </a:ext>
            </a:extLst>
          </p:cNvPr>
          <p:cNvSpPr>
            <a:spLocks xmlns:a="http://schemas.openxmlformats.org/drawingml/2006/main" noGrp="1"/>
          </p:cNvSpPr>
          <p:nvPr/>
        </p:nvSpPr>
        <p:spPr>
          <a:xfrm xmlns:a="http://schemas.openxmlformats.org/drawingml/2006/main">
            <a:off x="6743700" y="2247900"/>
            <a:ext cx="4857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Input: [5, 2, 4, 1, 3, 6]</a:t>
            </a:r>
          </a:p>
          <a:p xmlns:a="http://schemas.openxmlformats.org/drawingml/2006/main">
            <a:r>
              <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Leaves: [5, 2, 4] and [1, 3, 6]</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Insertion: [2, 4, 5] and [1, 3, 6]</a:t>
            </a:r>
          </a:p>
          <a:p xmlns:a="http://schemas.openxmlformats.org/drawingml/2006/main">
            <a:r>
              <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Merge: [1, 2, 3, 4, 5, 6]</a:t>
            </a:r>
          </a:p>
          <a:p xmlns:a="http://schemas.openxmlformats.org/drawingml/2006/main">
            <a:r>
              <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3 + 2 + 5 = 10 key comparisons</a:t>
            </a:r>
          </a:p>
        </p:txBody>
      </p:sp>
      <p:sp>
        <p:nvSpPr>
          <p:cNvPr id="6" name="">
            <a:extLst xmlns:a="http://schemas.openxmlformats.org/drawingml/2006/main">
              <a:ext uri="{FF2B5EF4-FFF2-40B4-BE49-F238E27FC236}">
                <a16:creationId xmlns:a16="http://schemas.microsoft.com/office/drawing/2014/main" id="{D571D41E-4EAB-4528-9CEE-F5695A4E32F7}"/>
              </a:ext>
            </a:extLst>
          </p:cNvPr>
          <p:cNvSpPr>
            <a:spLocks xmlns:a="http://schemas.openxmlformats.org/drawingml/2006/main" noGrp="1"/>
          </p:cNvSpPr>
          <p:nvPr/>
        </p:nvSpPr>
        <p:spPr>
          <a:xfrm xmlns:a="http://schemas.openxmlformats.org/drawingml/2006/main">
            <a:off x="11239500" y="651510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8616E"/>
                </a:solidFill>
                <a:latin typeface="Arial"/>
                <a:ea typeface="Arial"/>
                <a:cs typeface="Arial"/>
              </a:defRPr>
            </a:pPr>
            <a:r>
              <a:rPr sz="1200" b="0">
                <a:solidFill>
                  <a:srgbClr val="48616E"/>
                </a:solidFill>
                <a:latin typeface="Arial"/>
                <a:ea typeface="Arial"/>
                <a:cs typeface="Arial"/>
              </a:rPr>
              <a:t>2</a:t>
            </a:r>
          </a:p>
        </p:txBody>
      </p:sp>
    </p:spTree>
    <p:extLst>
      <p:ext uri="{BB962C8B-B14F-4D97-AF65-F5344CB8AC3E}">
        <p14:creationId xmlns:p14="http://schemas.microsoft.com/office/powerpoint/2010/main" val="13284861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7CC91D-911C-42C7-9582-23AF016733E7}"/>
              </a:ext>
            </a:extLst>
          </p:cNvPr>
          <p:cNvSpPr>
            <a:spLocks xmlns:a="http://schemas.openxmlformats.org/drawingml/2006/main" noGrp="1"/>
          </p:cNvSpPr>
          <p:nvPr/>
        </p:nvSpPr>
        <p:spPr>
          <a:xfrm xmlns:a="http://schemas.openxmlformats.org/drawingml/2006/main">
            <a:off x="571500" y="333375"/>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247"/>
                </a:solidFill>
                <a:latin typeface="Arial"/>
                <a:ea typeface="Arial"/>
                <a:cs typeface="Arial"/>
              </a:defRPr>
            </a:pPr>
            <a:r>
              <a:rPr sz="3150" b="1">
                <a:solidFill>
                  <a:srgbClr val="183247"/>
                </a:solidFill>
                <a:latin typeface="Arial"/>
                <a:ea typeface="Arial"/>
                <a:cs typeface="Arial"/>
              </a:rPr>
              <a:t>Correctness, counting and fair timing</a:t>
            </a:r>
          </a:p>
        </p:txBody>
      </p:sp>
      <p:sp>
        <p:nvSpPr>
          <p:cNvPr id="2" name="">
            <a:extLst xmlns:a="http://schemas.openxmlformats.org/drawingml/2006/main">
              <a:ext uri="{FF2B5EF4-FFF2-40B4-BE49-F238E27FC236}">
                <a16:creationId xmlns:a16="http://schemas.microsoft.com/office/drawing/2014/main" id="{FD330493-6124-437A-87C8-5699FCD47A37}"/>
              </a:ext>
            </a:extLst>
          </p:cNvPr>
          <p:cNvSpPr>
            <a:spLocks xmlns:a="http://schemas.openxmlformats.org/drawingml/2006/main" noGrp="1"/>
          </p:cNvSpPr>
          <p:nvPr/>
        </p:nvSpPr>
        <p:spPr>
          <a:xfrm xmlns:a="http://schemas.openxmlformats.org/drawingml/2006/main">
            <a:off x="571500" y="152400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6A8F"/>
                </a:solidFill>
                <a:latin typeface="Arial"/>
                <a:ea typeface="Arial"/>
                <a:cs typeface="Arial"/>
              </a:defRPr>
            </a:pPr>
            <a:r>
              <a:rPr sz="2250" b="1">
                <a:solidFill>
                  <a:srgbClr val="166A8F"/>
                </a:solidFill>
                <a:latin typeface="Arial"/>
                <a:ea typeface="Arial"/>
                <a:cs typeface="Arial"/>
              </a:rPr>
              <a:t>Correctness and counting</a:t>
            </a:r>
          </a:p>
        </p:txBody>
      </p:sp>
      <p:sp>
        <p:nvSpPr>
          <p:cNvPr id="3" name="">
            <a:extLst xmlns:a="http://schemas.openxmlformats.org/drawingml/2006/main">
              <a:ext uri="{FF2B5EF4-FFF2-40B4-BE49-F238E27FC236}">
                <a16:creationId xmlns:a16="http://schemas.microsoft.com/office/drawing/2014/main" id="{53D8CCDE-D4A4-4472-857C-58EC57E36285}"/>
              </a:ext>
            </a:extLst>
          </p:cNvPr>
          <p:cNvSpPr>
            <a:spLocks xmlns:a="http://schemas.openxmlformats.org/drawingml/2006/main" noGrp="1"/>
          </p:cNvSpPr>
          <p:nvPr/>
        </p:nvSpPr>
        <p:spPr>
          <a:xfrm xmlns:a="http://schemas.openxmlformats.org/drawingml/2006/main">
            <a:off x="571500" y="2209800"/>
            <a:ext cx="52387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Insertion maintains a sorted prefix.</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Merge emits the smallest remaining head.</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Induction gives a sorted, stable result.</a:t>
            </a:r>
          </a:p>
          <a:p xmlns:a="http://schemas.openxmlformats.org/drawingml/2006/main">
            <a:r>
              <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Count each evaluated data comparison:</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merge &lt;= and insertion &gt;.</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Include terminating false comparisons.</a:t>
            </a:r>
          </a:p>
        </p:txBody>
      </p:sp>
      <p:sp>
        <p:nvSpPr>
          <p:cNvPr id="4" name="">
            <a:extLst xmlns:a="http://schemas.openxmlformats.org/drawingml/2006/main">
              <a:ext uri="{FF2B5EF4-FFF2-40B4-BE49-F238E27FC236}">
                <a16:creationId xmlns:a16="http://schemas.microsoft.com/office/drawing/2014/main" id="{7BE51F02-88FA-4005-A82D-D647930645B0}"/>
              </a:ext>
            </a:extLst>
          </p:cNvPr>
          <p:cNvSpPr>
            <a:spLocks xmlns:a="http://schemas.openxmlformats.org/drawingml/2006/main" noGrp="1"/>
          </p:cNvSpPr>
          <p:nvPr/>
        </p:nvSpPr>
        <p:spPr>
          <a:xfrm xmlns:a="http://schemas.openxmlformats.org/drawingml/2006/main">
            <a:off x="6448425" y="15240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4532D"/>
                </a:solidFill>
                <a:latin typeface="Arial"/>
                <a:ea typeface="Arial"/>
                <a:cs typeface="Arial"/>
              </a:defRPr>
            </a:pPr>
            <a:r>
              <a:rPr sz="2250" b="1">
                <a:solidFill>
                  <a:srgbClr val="C4532D"/>
                </a:solidFill>
                <a:latin typeface="Arial"/>
                <a:ea typeface="Arial"/>
                <a:cs typeface="Arial"/>
              </a:rPr>
              <a:t>Experiment protocol</a:t>
            </a:r>
          </a:p>
        </p:txBody>
      </p:sp>
      <p:sp>
        <p:nvSpPr>
          <p:cNvPr id="5" name="">
            <a:extLst xmlns:a="http://schemas.openxmlformats.org/drawingml/2006/main">
              <a:ext uri="{FF2B5EF4-FFF2-40B4-BE49-F238E27FC236}">
                <a16:creationId xmlns:a16="http://schemas.microsoft.com/office/drawing/2014/main" id="{4D652133-CD40-407C-AA2A-70C0C9293BAD}"/>
              </a:ext>
            </a:extLst>
          </p:cNvPr>
          <p:cNvSpPr>
            <a:spLocks xmlns:a="http://schemas.openxmlformats.org/drawingml/2006/main" noGrp="1"/>
          </p:cNvSpPr>
          <p:nvPr/>
        </p:nvSpPr>
        <p:spPr>
          <a:xfrm xmlns:a="http://schemas.openxmlformats.org/drawingml/2006/main">
            <a:off x="6448425" y="2209800"/>
            <a:ext cx="519112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Uniform integers in [1, 1,000,000].</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Three seeds per case, paired inputs.</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Separate counted and uncounted runs.</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CPU clock: time.process_time().</a:t>
            </a:r>
          </a:p>
          <a:p xmlns:a="http://schemas.openxmlformats.org/drawingml/2006/main">
            <a:r>
              <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Exclude RNG, copies, buffer allocation,</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validation and I/O. Run sequentially.</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Verify order, length and exact histogram.</a:t>
            </a:r>
          </a:p>
        </p:txBody>
      </p:sp>
      <p:sp>
        <p:nvSpPr>
          <p:cNvPr id="6" name="">
            <a:extLst xmlns:a="http://schemas.openxmlformats.org/drawingml/2006/main">
              <a:ext uri="{FF2B5EF4-FFF2-40B4-BE49-F238E27FC236}">
                <a16:creationId xmlns:a16="http://schemas.microsoft.com/office/drawing/2014/main" id="{1E9C3DEA-FD4E-4362-B487-917075F26E6F}"/>
              </a:ext>
            </a:extLst>
          </p:cNvPr>
          <p:cNvSpPr>
            <a:spLocks xmlns:a="http://schemas.openxmlformats.org/drawingml/2006/main" noGrp="1"/>
          </p:cNvSpPr>
          <p:nvPr/>
        </p:nvSpPr>
        <p:spPr>
          <a:xfrm xmlns:a="http://schemas.openxmlformats.org/drawingml/2006/main">
            <a:off x="11239500" y="651510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8616E"/>
                </a:solidFill>
                <a:latin typeface="Arial"/>
                <a:ea typeface="Arial"/>
                <a:cs typeface="Arial"/>
              </a:defRPr>
            </a:pPr>
            <a:r>
              <a:rPr sz="1200" b="0">
                <a:solidFill>
                  <a:srgbClr val="48616E"/>
                </a:solidFill>
                <a:latin typeface="Arial"/>
                <a:ea typeface="Arial"/>
                <a:cs typeface="Arial"/>
              </a:rPr>
              <a:t>3</a:t>
            </a:r>
          </a:p>
        </p:txBody>
      </p:sp>
    </p:spTree>
    <p:extLst>
      <p:ext uri="{BB962C8B-B14F-4D97-AF65-F5344CB8AC3E}">
        <p14:creationId xmlns:p14="http://schemas.microsoft.com/office/powerpoint/2010/main" val="16343908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8ED9916-1174-48FB-925E-7777B2F99773}"/>
              </a:ext>
            </a:extLst>
          </p:cNvPr>
          <p:cNvSpPr>
            <a:spLocks xmlns:a="http://schemas.openxmlformats.org/drawingml/2006/main" noGrp="1"/>
          </p:cNvSpPr>
          <p:nvPr/>
        </p:nvSpPr>
        <p:spPr>
          <a:xfrm xmlns:a="http://schemas.openxmlformats.org/drawingml/2006/main">
            <a:off x="571500" y="333375"/>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247"/>
                </a:solidFill>
                <a:latin typeface="Arial"/>
                <a:ea typeface="Arial"/>
                <a:cs typeface="Arial"/>
              </a:defRPr>
            </a:pPr>
            <a:r>
              <a:rPr sz="3150" b="1">
                <a:solidFill>
                  <a:srgbClr val="183247"/>
                </a:solidFill>
                <a:latin typeface="Arial"/>
                <a:ea typeface="Arial"/>
                <a:cs typeface="Arial"/>
              </a:rPr>
              <a:t>Fixed S retains n log n growth</a:t>
            </a:r>
          </a:p>
        </p:txBody>
      </p:sp>
      <p:graphicFrame>
        <p:nvGraphicFramePr>
          <p:cNvPr id="7" name="Chart"/>
          <p:cNvGraphicFramePr/>
          <p:nvPr/>
        </p:nvGraphicFramePr>
        <p:xfrm>
          <a:off xmlns:a="http://schemas.openxmlformats.org/drawingml/2006/main" x="381000" y="1476375"/>
          <a:ext xmlns:a="http://schemas.openxmlformats.org/drawingml/2006/main" cx="7524750" cy="4238625"/>
        </p:xfrm>
        <a:graphic xmlns:a="http://schemas.openxmlformats.org/drawingml/2006/main">
          <a:graphicData uri="http://schemas.openxmlformats.org/drawingml/2006/chart">
            <c:chart xmlns:r="http://schemas.openxmlformats.org/officeDocument/2006/relationships" xmlns:c="http://schemas.openxmlformats.org/drawingml/2006/chart" r:id="R33a4ae2a87b94db6"/>
          </a:graphicData>
        </a:graphic>
      </p:graphicFrame>
      <p:sp>
        <p:nvSpPr>
          <p:cNvPr id="3" name="">
            <a:extLst xmlns:a="http://schemas.openxmlformats.org/drawingml/2006/main">
              <a:ext uri="{FF2B5EF4-FFF2-40B4-BE49-F238E27FC236}">
                <a16:creationId xmlns:a16="http://schemas.microsoft.com/office/drawing/2014/main" id="{F5123A48-A464-4E02-A4A5-8B2A75C82118}"/>
              </a:ext>
            </a:extLst>
          </p:cNvPr>
          <p:cNvSpPr>
            <a:spLocks xmlns:a="http://schemas.openxmlformats.org/drawingml/2006/main" noGrp="1"/>
          </p:cNvSpPr>
          <p:nvPr/>
        </p:nvSpPr>
        <p:spPr>
          <a:xfrm xmlns:a="http://schemas.openxmlformats.org/drawingml/2006/main">
            <a:off x="8191500" y="1609725"/>
            <a:ext cx="3381375"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247"/>
                </a:solidFill>
                <a:latin typeface="Arial"/>
                <a:ea typeface="Arial"/>
                <a:cs typeface="Arial"/>
              </a:defRPr>
            </a:pPr>
            <a:r>
              <a:rPr sz="1875" b="0">
                <a:solidFill>
                  <a:srgbClr val="183247"/>
                </a:solidFill>
                <a:latin typeface="Arial"/>
                <a:ea typeface="Arial"/>
                <a:cs typeface="Arial"/>
              </a:rPr>
              <a:t>Original</a:t>
            </a:r>
          </a:p>
          <a:p xmlns:a="http://schemas.openxmlformats.org/drawingml/2006/main">
            <a:pPr>
              <a:defRPr sz="1875" b="0">
                <a:solidFill>
                  <a:srgbClr val="183247"/>
                </a:solidFill>
                <a:latin typeface="Arial"/>
                <a:ea typeface="Arial"/>
                <a:cs typeface="Arial"/>
              </a:defRPr>
            </a:pPr>
            <a:r>
              <a:rPr sz="1875" b="0">
                <a:solidFill>
                  <a:srgbClr val="183247"/>
                </a:solidFill>
                <a:latin typeface="Arial"/>
                <a:ea typeface="Arial"/>
                <a:cs typeface="Arial"/>
              </a:rPr>
              <a:t>T(n) = 2T(n/2) + Theta(n)</a:t>
            </a:r>
          </a:p>
          <a:p xmlns:a="http://schemas.openxmlformats.org/drawingml/2006/main">
            <a:pPr>
              <a:defRPr sz="1875" b="0">
                <a:solidFill>
                  <a:srgbClr val="183247"/>
                </a:solidFill>
                <a:latin typeface="Arial"/>
                <a:ea typeface="Arial"/>
                <a:cs typeface="Arial"/>
              </a:defRPr>
            </a:pPr>
            <a:r>
              <a:rPr sz="1875" b="0">
                <a:solidFill>
                  <a:srgbClr val="183247"/>
                </a:solidFill>
                <a:latin typeface="Arial"/>
                <a:ea typeface="Arial"/>
                <a:cs typeface="Arial"/>
              </a:rPr>
              <a:t>Time: Theta(n log n)</a:t>
            </a:r>
          </a:p>
          <a:p xmlns:a="http://schemas.openxmlformats.org/drawingml/2006/main">
            <a:pPr>
              <a:defRPr sz="1875" b="0">
                <a:solidFill>
                  <a:srgbClr val="183247"/>
                </a:solidFill>
                <a:latin typeface="Arial"/>
                <a:ea typeface="Arial"/>
                <a:cs typeface="Arial"/>
              </a:defRPr>
            </a:pPr>
            <a:r>
              <a:rPr sz="1875" b="0">
                <a:solidFill>
                  <a:srgbClr val="183247"/>
                </a:solidFill>
                <a:latin typeface="Arial"/>
                <a:ea typeface="Arial"/>
                <a:cs typeface="Arial"/>
              </a:rPr>
              <a:t>Buffer: Theta(n)</a:t>
            </a:r>
          </a:p>
          <a:p xmlns:a="http://schemas.openxmlformats.org/drawingml/2006/main">
            <a:r>
              <a:t/>
            </a:r>
          </a:p>
          <a:p xmlns:a="http://schemas.openxmlformats.org/drawingml/2006/main">
            <a:pPr>
              <a:defRPr sz="1875" b="0">
                <a:solidFill>
                  <a:srgbClr val="183247"/>
                </a:solidFill>
                <a:latin typeface="Arial"/>
                <a:ea typeface="Arial"/>
                <a:cs typeface="Arial"/>
              </a:defRPr>
            </a:pPr>
            <a:r>
              <a:rPr sz="1875" b="0">
                <a:solidFill>
                  <a:srgbClr val="183247"/>
                </a:solidFill>
                <a:latin typeface="Arial"/>
                <a:ea typeface="Arial"/>
                <a:cs typeface="Arial"/>
              </a:rPr>
              <a:t>Hybrid</a:t>
            </a:r>
          </a:p>
          <a:p xmlns:a="http://schemas.openxmlformats.org/drawingml/2006/main">
            <a:pPr>
              <a:defRPr sz="1875" b="0">
                <a:solidFill>
                  <a:srgbClr val="183247"/>
                </a:solidFill>
                <a:latin typeface="Arial"/>
                <a:ea typeface="Arial"/>
                <a:cs typeface="Arial"/>
              </a:defRPr>
            </a:pPr>
            <a:r>
              <a:rPr sz="1875" b="0">
                <a:solidFill>
                  <a:srgbClr val="183247"/>
                </a:solidFill>
                <a:latin typeface="Arial"/>
                <a:ea typeface="Arial"/>
                <a:cs typeface="Arial"/>
              </a:rPr>
              <a:t>About log2(n/S) merge levels</a:t>
            </a:r>
          </a:p>
          <a:p xmlns:a="http://schemas.openxmlformats.org/drawingml/2006/main">
            <a:pPr>
              <a:defRPr sz="1875" b="0">
                <a:solidFill>
                  <a:srgbClr val="183247"/>
                </a:solidFill>
                <a:latin typeface="Arial"/>
                <a:ea typeface="Arial"/>
                <a:cs typeface="Arial"/>
              </a:defRPr>
            </a:pPr>
            <a:r>
              <a:rPr sz="1875" b="0">
                <a:solidFill>
                  <a:srgbClr val="183247"/>
                </a:solidFill>
                <a:latin typeface="Arial"/>
                <a:ea typeface="Arial"/>
                <a:cs typeface="Arial"/>
              </a:rPr>
              <a:t>Random leaf work: Theta(nS)</a:t>
            </a:r>
          </a:p>
          <a:p xmlns:a="http://schemas.openxmlformats.org/drawingml/2006/main">
            <a:pPr>
              <a:defRPr sz="1875" b="0">
                <a:solidFill>
                  <a:srgbClr val="183247"/>
                </a:solidFill>
                <a:latin typeface="Arial"/>
                <a:ea typeface="Arial"/>
                <a:cs typeface="Arial"/>
              </a:defRPr>
            </a:pPr>
            <a:r>
              <a:rPr sz="1875" b="0">
                <a:solidFill>
                  <a:srgbClr val="183247"/>
                </a:solidFill>
                <a:latin typeface="Arial"/>
                <a:ea typeface="Arial"/>
                <a:cs typeface="Arial"/>
              </a:rPr>
              <a:t>Fixed S: Theta(n log n)</a:t>
            </a:r>
          </a:p>
        </p:txBody>
      </p:sp>
      <p:sp>
        <p:nvSpPr>
          <p:cNvPr id="4" name="">
            <a:extLst xmlns:a="http://schemas.openxmlformats.org/drawingml/2006/main">
              <a:ext uri="{FF2B5EF4-FFF2-40B4-BE49-F238E27FC236}">
                <a16:creationId xmlns:a16="http://schemas.microsoft.com/office/drawing/2014/main" id="{5CF9B1CC-827D-4380-8721-D60DF1C52E2E}"/>
              </a:ext>
            </a:extLst>
          </p:cNvPr>
          <p:cNvSpPr>
            <a:spLocks xmlns:a="http://schemas.openxmlformats.org/drawingml/2006/main" noGrp="1"/>
          </p:cNvSpPr>
          <p:nvPr/>
        </p:nvSpPr>
        <p:spPr>
          <a:xfrm xmlns:a="http://schemas.openxmlformats.org/drawingml/2006/main">
            <a:off x="600075" y="6019800"/>
            <a:ext cx="1090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8616E"/>
                </a:solidFill>
                <a:latin typeface="Arial"/>
                <a:ea typeface="Arial"/>
                <a:cs typeface="Arial"/>
              </a:defRPr>
            </a:pPr>
            <a:r>
              <a:rPr sz="1500" b="0">
                <a:solidFill>
                  <a:srgbClr val="48616E"/>
                </a:solidFill>
                <a:latin typeface="Arial"/>
                <a:ea typeface="Arial"/>
                <a:cs typeface="Arial"/>
              </a:rPr>
              <a:t>Both axes show log10 values. Analytical counts use actual rounded splits with no fitted scale factor.</a:t>
            </a:r>
          </a:p>
        </p:txBody>
      </p:sp>
      <p:sp>
        <p:nvSpPr>
          <p:cNvPr id="5" name="">
            <a:extLst xmlns:a="http://schemas.openxmlformats.org/drawingml/2006/main">
              <a:ext uri="{FF2B5EF4-FFF2-40B4-BE49-F238E27FC236}">
                <a16:creationId xmlns:a16="http://schemas.microsoft.com/office/drawing/2014/main" id="{4CA8D810-2131-4EB7-8F15-AE3BEA616FA6}"/>
              </a:ext>
            </a:extLst>
          </p:cNvPr>
          <p:cNvSpPr>
            <a:spLocks xmlns:a="http://schemas.openxmlformats.org/drawingml/2006/main" noGrp="1"/>
          </p:cNvSpPr>
          <p:nvPr/>
        </p:nvSpPr>
        <p:spPr>
          <a:xfrm xmlns:a="http://schemas.openxmlformats.org/drawingml/2006/main">
            <a:off x="11239500" y="651510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8616E"/>
                </a:solidFill>
                <a:latin typeface="Arial"/>
                <a:ea typeface="Arial"/>
                <a:cs typeface="Arial"/>
              </a:defRPr>
            </a:pPr>
            <a:r>
              <a:rPr sz="1200" b="0">
                <a:solidFill>
                  <a:srgbClr val="48616E"/>
                </a:solidFill>
                <a:latin typeface="Arial"/>
                <a:ea typeface="Arial"/>
                <a:cs typeface="Arial"/>
              </a:rPr>
              <a:t>4</a:t>
            </a:r>
          </a:p>
        </p:txBody>
      </p:sp>
    </p:spTree>
    <p:extLst>
      <p:ext uri="{BB962C8B-B14F-4D97-AF65-F5344CB8AC3E}">
        <p14:creationId xmlns:p14="http://schemas.microsoft.com/office/powerpoint/2010/main" val="36635659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4822F6C-A546-458A-9D34-8535B51982AF}"/>
              </a:ext>
            </a:extLst>
          </p:cNvPr>
          <p:cNvSpPr>
            <a:spLocks xmlns:a="http://schemas.openxmlformats.org/drawingml/2006/main" noGrp="1"/>
          </p:cNvSpPr>
          <p:nvPr/>
        </p:nvSpPr>
        <p:spPr>
          <a:xfrm xmlns:a="http://schemas.openxmlformats.org/drawingml/2006/main">
            <a:off x="571500" y="333375"/>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247"/>
                </a:solidFill>
                <a:latin typeface="Arial"/>
                <a:ea typeface="Arial"/>
                <a:cs typeface="Arial"/>
              </a:defRPr>
            </a:pPr>
            <a:r>
              <a:rPr sz="3150" b="1">
                <a:solidFill>
                  <a:srgbClr val="183247"/>
                </a:solidFill>
                <a:latin typeface="Arial"/>
                <a:ea typeface="Arial"/>
                <a:cs typeface="Arial"/>
              </a:rPr>
              <a:t>Increasing S changes the leaf work</a:t>
            </a:r>
          </a:p>
        </p:txBody>
      </p:sp>
      <p:graphicFrame>
        <p:nvGraphicFramePr>
          <p:cNvPr id="7" name="Chart"/>
          <p:cNvGraphicFramePr/>
          <p:nvPr/>
        </p:nvGraphicFramePr>
        <p:xfrm>
          <a:off xmlns:a="http://schemas.openxmlformats.org/drawingml/2006/main" x="381000" y="1476375"/>
          <a:ext xmlns:a="http://schemas.openxmlformats.org/drawingml/2006/main" cx="7524750" cy="4238625"/>
        </p:xfrm>
        <a:graphic xmlns:a="http://schemas.openxmlformats.org/drawingml/2006/main">
          <a:graphicData uri="http://schemas.openxmlformats.org/drawingml/2006/chart">
            <c:chart xmlns:r="http://schemas.openxmlformats.org/officeDocument/2006/relationships" xmlns:c="http://schemas.openxmlformats.org/drawingml/2006/chart" r:id="Rd9c4204327324f26"/>
          </a:graphicData>
        </a:graphic>
      </p:graphicFrame>
      <p:sp>
        <p:nvSpPr>
          <p:cNvPr id="3" name="">
            <a:extLst xmlns:a="http://schemas.openxmlformats.org/drawingml/2006/main">
              <a:ext uri="{FF2B5EF4-FFF2-40B4-BE49-F238E27FC236}">
                <a16:creationId xmlns:a16="http://schemas.microsoft.com/office/drawing/2014/main" id="{0F446542-CD25-4345-8EAF-8AA94A25DDEE}"/>
              </a:ext>
            </a:extLst>
          </p:cNvPr>
          <p:cNvSpPr>
            <a:spLocks xmlns:a="http://schemas.openxmlformats.org/drawingml/2006/main" noGrp="1"/>
          </p:cNvSpPr>
          <p:nvPr/>
        </p:nvSpPr>
        <p:spPr>
          <a:xfrm xmlns:a="http://schemas.openxmlformats.org/drawingml/2006/main">
            <a:off x="8191500" y="1609725"/>
            <a:ext cx="3381375"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247"/>
                </a:solidFill>
                <a:latin typeface="Arial"/>
                <a:ea typeface="Arial"/>
                <a:cs typeface="Arial"/>
              </a:defRPr>
            </a:pPr>
            <a:r>
              <a:rPr sz="1875" b="0">
                <a:solidFill>
                  <a:srgbClr val="183247"/>
                </a:solidFill>
                <a:latin typeface="Arial"/>
                <a:ea typeface="Arial"/>
                <a:cs typeface="Arial"/>
              </a:rPr>
              <a:t>Fewer merge levels</a:t>
            </a:r>
          </a:p>
          <a:p xmlns:a="http://schemas.openxmlformats.org/drawingml/2006/main">
            <a:pPr>
              <a:defRPr sz="1875" b="0">
                <a:solidFill>
                  <a:srgbClr val="183247"/>
                </a:solidFill>
                <a:latin typeface="Arial"/>
                <a:ea typeface="Arial"/>
                <a:cs typeface="Arial"/>
              </a:defRPr>
            </a:pPr>
            <a:r>
              <a:rPr sz="1875" b="0">
                <a:solidFill>
                  <a:srgbClr val="183247"/>
                </a:solidFill>
                <a:latin typeface="Arial"/>
                <a:ea typeface="Arial"/>
                <a:cs typeface="Arial"/>
              </a:rPr>
              <a:t>Larger insertion leaves</a:t>
            </a:r>
          </a:p>
          <a:p xmlns:a="http://schemas.openxmlformats.org/drawingml/2006/main">
            <a:r>
              <a:t/>
            </a:r>
          </a:p>
          <a:p xmlns:a="http://schemas.openxmlformats.org/drawingml/2006/main">
            <a:pPr>
              <a:defRPr sz="1875" b="0">
                <a:solidFill>
                  <a:srgbClr val="183247"/>
                </a:solidFill>
                <a:latin typeface="Arial"/>
                <a:ea typeface="Arial"/>
                <a:cs typeface="Arial"/>
              </a:defRPr>
            </a:pPr>
            <a:r>
              <a:rPr sz="1875" b="0">
                <a:solidFill>
                  <a:srgbClr val="183247"/>
                </a:solidFill>
                <a:latin typeface="Arial"/>
                <a:ea typeface="Arial"/>
                <a:cs typeface="Arial"/>
              </a:rPr>
              <a:t>Random insertion: Theta(S^2) per leaf</a:t>
            </a:r>
          </a:p>
          <a:p xmlns:a="http://schemas.openxmlformats.org/drawingml/2006/main">
            <a:pPr>
              <a:defRPr sz="1875" b="0">
                <a:solidFill>
                  <a:srgbClr val="183247"/>
                </a:solidFill>
                <a:latin typeface="Arial"/>
                <a:ea typeface="Arial"/>
                <a:cs typeface="Arial"/>
              </a:defRPr>
            </a:pPr>
            <a:r>
              <a:rPr sz="1875" b="0">
                <a:solidFill>
                  <a:srgbClr val="183247"/>
                </a:solidFill>
                <a:latin typeface="Arial"/>
                <a:ea typeface="Arial"/>
                <a:cs typeface="Arial"/>
              </a:rPr>
              <a:t>About n/S leaves</a:t>
            </a:r>
          </a:p>
          <a:p xmlns:a="http://schemas.openxmlformats.org/drawingml/2006/main">
            <a:pPr>
              <a:defRPr sz="1875" b="0">
                <a:solidFill>
                  <a:srgbClr val="183247"/>
                </a:solidFill>
                <a:latin typeface="Arial"/>
                <a:ea typeface="Arial"/>
                <a:cs typeface="Arial"/>
              </a:defRPr>
            </a:pPr>
            <a:r>
              <a:rPr sz="1875" b="0">
                <a:solidFill>
                  <a:srgbClr val="183247"/>
                </a:solidFill>
                <a:latin typeface="Arial"/>
                <a:ea typeface="Arial"/>
                <a:cs typeface="Arial"/>
              </a:rPr>
              <a:t>Total leaf work: Theta(nS)</a:t>
            </a:r>
          </a:p>
          <a:p xmlns:a="http://schemas.openxmlformats.org/drawingml/2006/main">
            <a:r>
              <a:t/>
            </a:r>
          </a:p>
          <a:p xmlns:a="http://schemas.openxmlformats.org/drawingml/2006/main">
            <a:pPr>
              <a:defRPr sz="1875" b="0">
                <a:solidFill>
                  <a:srgbClr val="183247"/>
                </a:solidFill>
                <a:latin typeface="Arial"/>
                <a:ea typeface="Arial"/>
                <a:cs typeface="Arial"/>
              </a:defRPr>
            </a:pPr>
            <a:r>
              <a:rPr sz="1875" b="0">
                <a:solidFill>
                  <a:srgbClr val="183247"/>
                </a:solidFill>
                <a:latin typeface="Arial"/>
                <a:ea typeface="Arial"/>
                <a:cs typeface="Arial"/>
              </a:rPr>
              <a:t>Some S values share the same leaves.</a:t>
            </a:r>
          </a:p>
          <a:p xmlns:a="http://schemas.openxmlformats.org/drawingml/2006/main">
            <a:pPr>
              <a:defRPr sz="1875" b="0">
                <a:solidFill>
                  <a:srgbClr val="183247"/>
                </a:solidFill>
                <a:latin typeface="Arial"/>
                <a:ea typeface="Arial"/>
                <a:cs typeface="Arial"/>
              </a:defRPr>
            </a:pPr>
            <a:r>
              <a:rPr sz="1875" b="0">
                <a:solidFill>
                  <a:srgbClr val="183247"/>
                </a:solidFill>
                <a:latin typeface="Arial"/>
                <a:ea typeface="Arial"/>
                <a:cs typeface="Arial"/>
              </a:rPr>
              <a:t>Plateaus are expected.</a:t>
            </a:r>
          </a:p>
        </p:txBody>
      </p:sp>
      <p:sp>
        <p:nvSpPr>
          <p:cNvPr id="4" name="">
            <a:extLst xmlns:a="http://schemas.openxmlformats.org/drawingml/2006/main">
              <a:ext uri="{FF2B5EF4-FFF2-40B4-BE49-F238E27FC236}">
                <a16:creationId xmlns:a16="http://schemas.microsoft.com/office/drawing/2014/main" id="{C61C40FA-30DA-45FC-A9D7-89EABBC7B7FD}"/>
              </a:ext>
            </a:extLst>
          </p:cNvPr>
          <p:cNvSpPr>
            <a:spLocks xmlns:a="http://schemas.openxmlformats.org/drawingml/2006/main" noGrp="1"/>
          </p:cNvSpPr>
          <p:nvPr/>
        </p:nvSpPr>
        <p:spPr>
          <a:xfrm xmlns:a="http://schemas.openxmlformats.org/drawingml/2006/main">
            <a:off x="600075" y="6019800"/>
            <a:ext cx="1090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8616E"/>
                </a:solidFill>
                <a:latin typeface="Arial"/>
                <a:ea typeface="Arial"/>
                <a:cs typeface="Arial"/>
              </a:defRPr>
            </a:pPr>
            <a:r>
              <a:rPr sz="1500" b="0">
                <a:solidFill>
                  <a:srgbClr val="48616E"/>
                </a:solidFill>
                <a:latin typeface="Arial"/>
                <a:ea typeface="Arial"/>
                <a:cs typeface="Arial"/>
              </a:rPr>
              <a:t>S=1 is included. Medians of three seeds. Full plots also show ranges and the worst-case bound.</a:t>
            </a:r>
          </a:p>
        </p:txBody>
      </p:sp>
      <p:sp>
        <p:nvSpPr>
          <p:cNvPr id="5" name="">
            <a:extLst xmlns:a="http://schemas.openxmlformats.org/drawingml/2006/main">
              <a:ext uri="{FF2B5EF4-FFF2-40B4-BE49-F238E27FC236}">
                <a16:creationId xmlns:a16="http://schemas.microsoft.com/office/drawing/2014/main" id="{333CDD66-5057-4DA7-B664-7D6F3A6D7C7C}"/>
              </a:ext>
            </a:extLst>
          </p:cNvPr>
          <p:cNvSpPr>
            <a:spLocks xmlns:a="http://schemas.openxmlformats.org/drawingml/2006/main" noGrp="1"/>
          </p:cNvSpPr>
          <p:nvPr/>
        </p:nvSpPr>
        <p:spPr>
          <a:xfrm xmlns:a="http://schemas.openxmlformats.org/drawingml/2006/main">
            <a:off x="11239500" y="651510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8616E"/>
                </a:solidFill>
                <a:latin typeface="Arial"/>
                <a:ea typeface="Arial"/>
                <a:cs typeface="Arial"/>
              </a:defRPr>
            </a:pPr>
            <a:r>
              <a:rPr sz="1200" b="0">
                <a:solidFill>
                  <a:srgbClr val="48616E"/>
                </a:solidFill>
                <a:latin typeface="Arial"/>
                <a:ea typeface="Arial"/>
                <a:cs typeface="Arial"/>
              </a:rPr>
              <a:t>5</a:t>
            </a:r>
          </a:p>
        </p:txBody>
      </p:sp>
    </p:spTree>
    <p:extLst>
      <p:ext uri="{BB962C8B-B14F-4D97-AF65-F5344CB8AC3E}">
        <p14:creationId xmlns:p14="http://schemas.microsoft.com/office/powerpoint/2010/main" val="9893846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C1C8F51-FDF0-45B0-9CBE-5FCA49C911B5}"/>
              </a:ext>
            </a:extLst>
          </p:cNvPr>
          <p:cNvSpPr>
            <a:spLocks xmlns:a="http://schemas.openxmlformats.org/drawingml/2006/main" noGrp="1"/>
          </p:cNvSpPr>
          <p:nvPr/>
        </p:nvSpPr>
        <p:spPr>
          <a:xfrm xmlns:a="http://schemas.openxmlformats.org/drawingml/2006/main">
            <a:off x="571500" y="333375"/>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247"/>
                </a:solidFill>
                <a:latin typeface="Arial"/>
                <a:ea typeface="Arial"/>
                <a:cs typeface="Arial"/>
              </a:defRPr>
            </a:pPr>
            <a:r>
              <a:rPr sz="3150" b="1">
                <a:solidFill>
                  <a:srgbClr val="183247"/>
                </a:solidFill>
                <a:latin typeface="Arial"/>
                <a:ea typeface="Arial"/>
                <a:cs typeface="Arial"/>
              </a:rPr>
              <a:t>CPU tuning selected S=12 by the tie-break rule</a:t>
            </a:r>
          </a:p>
        </p:txBody>
      </p:sp>
      <p:graphicFrame>
        <p:nvGraphicFramePr>
          <p:cNvPr id="7" name="Chart"/>
          <p:cNvGraphicFramePr/>
          <p:nvPr/>
        </p:nvGraphicFramePr>
        <p:xfrm>
          <a:off xmlns:a="http://schemas.openxmlformats.org/drawingml/2006/main" x="381000" y="1504950"/>
          <a:ext xmlns:a="http://schemas.openxmlformats.org/drawingml/2006/main" cx="5572125" cy="4286250"/>
        </p:xfrm>
        <a:graphic xmlns:a="http://schemas.openxmlformats.org/drawingml/2006/main">
          <a:graphicData uri="http://schemas.openxmlformats.org/drawingml/2006/chart">
            <c:chart xmlns:r="http://schemas.openxmlformats.org/officeDocument/2006/relationships" xmlns:c="http://schemas.openxmlformats.org/drawingml/2006/chart" r:id="Rbdd7988d4b5143e1"/>
          </a:graphicData>
        </a:graphic>
      </p:graphicFrame>
      <p:graphicFrame>
        <p:nvGraphicFramePr>
          <p:cNvPr id="8" name="Chart"/>
          <p:cNvGraphicFramePr/>
          <p:nvPr/>
        </p:nvGraphicFramePr>
        <p:xfrm>
          <a:off xmlns:a="http://schemas.openxmlformats.org/drawingml/2006/main" x="6238875" y="1504950"/>
          <a:ext xmlns:a="http://schemas.openxmlformats.org/drawingml/2006/main" cx="5572125" cy="4286250"/>
        </p:xfrm>
        <a:graphic xmlns:a="http://schemas.openxmlformats.org/drawingml/2006/main">
          <a:graphicData uri="http://schemas.openxmlformats.org/drawingml/2006/chart">
            <c:chart xmlns:r="http://schemas.openxmlformats.org/officeDocument/2006/relationships" xmlns:c="http://schemas.openxmlformats.org/drawingml/2006/chart" r:id="Rbc18fd2603ce473d"/>
          </a:graphicData>
        </a:graphic>
      </p:graphicFrame>
      <p:sp>
        <p:nvSpPr>
          <p:cNvPr id="4" name="">
            <a:extLst xmlns:a="http://schemas.openxmlformats.org/drawingml/2006/main">
              <a:ext uri="{FF2B5EF4-FFF2-40B4-BE49-F238E27FC236}">
                <a16:creationId xmlns:a16="http://schemas.microsoft.com/office/drawing/2014/main" id="{584BCC96-CAFB-47E0-8C28-B832726D83DE}"/>
              </a:ext>
            </a:extLst>
          </p:cNvPr>
          <p:cNvSpPr>
            <a:spLocks xmlns:a="http://schemas.openxmlformats.org/drawingml/2006/main" noGrp="1"/>
          </p:cNvSpPr>
          <p:nvPr/>
        </p:nvSpPr>
        <p:spPr>
          <a:xfrm xmlns:a="http://schemas.openxmlformats.org/drawingml/2006/main">
            <a:off x="600075" y="6019800"/>
            <a:ext cx="1090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8616E"/>
                </a:solidFill>
                <a:latin typeface="Arial"/>
                <a:ea typeface="Arial"/>
                <a:cs typeface="Arial"/>
              </a:defRPr>
            </a:pPr>
            <a:r>
              <a:rPr sz="1500" b="0">
                <a:solidFill>
                  <a:srgbClr val="48616E"/>
                </a:solidFill>
                <a:latin typeface="Arial"/>
                <a:ea typeface="Arial"/>
                <a:cs typeface="Arial"/>
              </a:rPr>
              <a:t>S=12, 32 tied at 2.78125 s median. The rule chooses smaller S. Three seeds per case.</a:t>
            </a:r>
          </a:p>
        </p:txBody>
      </p:sp>
      <p:sp>
        <p:nvSpPr>
          <p:cNvPr id="5" name="">
            <a:extLst xmlns:a="http://schemas.openxmlformats.org/drawingml/2006/main">
              <a:ext uri="{FF2B5EF4-FFF2-40B4-BE49-F238E27FC236}">
                <a16:creationId xmlns:a16="http://schemas.microsoft.com/office/drawing/2014/main" id="{60A636D0-461A-4121-B4DC-FCF391D89175}"/>
              </a:ext>
            </a:extLst>
          </p:cNvPr>
          <p:cNvSpPr>
            <a:spLocks xmlns:a="http://schemas.openxmlformats.org/drawingml/2006/main" noGrp="1"/>
          </p:cNvSpPr>
          <p:nvPr/>
        </p:nvSpPr>
        <p:spPr>
          <a:xfrm xmlns:a="http://schemas.openxmlformats.org/drawingml/2006/main">
            <a:off x="11239500" y="651510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8616E"/>
                </a:solidFill>
                <a:latin typeface="Arial"/>
                <a:ea typeface="Arial"/>
                <a:cs typeface="Arial"/>
              </a:defRPr>
            </a:pPr>
            <a:r>
              <a:rPr sz="1200" b="0">
                <a:solidFill>
                  <a:srgbClr val="48616E"/>
                </a:solidFill>
                <a:latin typeface="Arial"/>
                <a:ea typeface="Arial"/>
                <a:cs typeface="Arial"/>
              </a:rPr>
              <a:t>6</a:t>
            </a:r>
          </a:p>
        </p:txBody>
      </p:sp>
    </p:spTree>
    <p:extLst>
      <p:ext uri="{BB962C8B-B14F-4D97-AF65-F5344CB8AC3E}">
        <p14:creationId xmlns:p14="http://schemas.microsoft.com/office/powerpoint/2010/main" val="130215955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20DF339-4B81-46C7-A1B2-8FC2B692894E}"/>
              </a:ext>
            </a:extLst>
          </p:cNvPr>
          <p:cNvSpPr>
            <a:spLocks xmlns:a="http://schemas.openxmlformats.org/drawingml/2006/main" noGrp="1"/>
          </p:cNvSpPr>
          <p:nvPr/>
        </p:nvSpPr>
        <p:spPr>
          <a:xfrm xmlns:a="http://schemas.openxmlformats.org/drawingml/2006/main">
            <a:off x="571500" y="333375"/>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247"/>
                </a:solidFill>
                <a:latin typeface="Arial"/>
                <a:ea typeface="Arial"/>
                <a:cs typeface="Arial"/>
              </a:defRPr>
            </a:pPr>
            <a:r>
              <a:rPr sz="3150" b="1">
                <a:solidFill>
                  <a:srgbClr val="183247"/>
                </a:solidFill>
                <a:latin typeface="Arial"/>
                <a:ea typeface="Arial"/>
                <a:cs typeface="Arial"/>
              </a:rPr>
              <a:t>Original and hybrid on 10 million integers</a:t>
            </a:r>
          </a:p>
        </p:txBody>
      </p:sp>
      <p:graphicFrame>
        <p:nvGraphicFramePr>
          <p:cNvPr id="7" name="Chart"/>
          <p:cNvGraphicFramePr/>
          <p:nvPr/>
        </p:nvGraphicFramePr>
        <p:xfrm>
          <a:off xmlns:a="http://schemas.openxmlformats.org/drawingml/2006/main" x="381000" y="1504950"/>
          <a:ext xmlns:a="http://schemas.openxmlformats.org/drawingml/2006/main" cx="5572125" cy="4286250"/>
        </p:xfrm>
        <a:graphic xmlns:a="http://schemas.openxmlformats.org/drawingml/2006/main">
          <a:graphicData uri="http://schemas.openxmlformats.org/drawingml/2006/chart">
            <c:chart xmlns:r="http://schemas.openxmlformats.org/officeDocument/2006/relationships" xmlns:c="http://schemas.openxmlformats.org/drawingml/2006/chart" r:id="R869c8fd8bb5141a5"/>
          </a:graphicData>
        </a:graphic>
      </p:graphicFrame>
      <p:graphicFrame>
        <p:nvGraphicFramePr>
          <p:cNvPr id="8" name="Chart"/>
          <p:cNvGraphicFramePr/>
          <p:nvPr/>
        </p:nvGraphicFramePr>
        <p:xfrm>
          <a:off xmlns:a="http://schemas.openxmlformats.org/drawingml/2006/main" x="6238875" y="1504950"/>
          <a:ext xmlns:a="http://schemas.openxmlformats.org/drawingml/2006/main" cx="5572125" cy="4286250"/>
        </p:xfrm>
        <a:graphic xmlns:a="http://schemas.openxmlformats.org/drawingml/2006/main">
          <a:graphicData uri="http://schemas.openxmlformats.org/drawingml/2006/chart">
            <c:chart xmlns:r="http://schemas.openxmlformats.org/officeDocument/2006/relationships" xmlns:c="http://schemas.openxmlformats.org/drawingml/2006/chart" r:id="R60b49567a4504c70"/>
          </a:graphicData>
        </a:graphic>
      </p:graphicFrame>
      <p:sp>
        <p:nvSpPr>
          <p:cNvPr id="4" name="">
            <a:extLst xmlns:a="http://schemas.openxmlformats.org/drawingml/2006/main">
              <a:ext uri="{FF2B5EF4-FFF2-40B4-BE49-F238E27FC236}">
                <a16:creationId xmlns:a16="http://schemas.microsoft.com/office/drawing/2014/main" id="{35F4EDD2-A6F8-4FB5-867F-7ACA89CF1257}"/>
              </a:ext>
            </a:extLst>
          </p:cNvPr>
          <p:cNvSpPr>
            <a:spLocks xmlns:a="http://schemas.openxmlformats.org/drawingml/2006/main" noGrp="1"/>
          </p:cNvSpPr>
          <p:nvPr/>
        </p:nvSpPr>
        <p:spPr>
          <a:xfrm xmlns:a="http://schemas.openxmlformats.org/drawingml/2006/main">
            <a:off x="600075" y="6019800"/>
            <a:ext cx="1090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8616E"/>
                </a:solidFill>
                <a:latin typeface="Arial"/>
                <a:ea typeface="Arial"/>
                <a:cs typeface="Arial"/>
              </a:defRPr>
            </a:pPr>
            <a:r>
              <a:rPr sz="1500" b="0">
                <a:solidFill>
                  <a:srgbClr val="48616E"/>
                </a:solidFill>
                <a:latin typeface="Arial"/>
                <a:ea typeface="Arial"/>
                <a:cs typeface="Arial"/>
              </a:rPr>
              <a:t>Median CPU: 92.094 s original, 94.078 s hybrid. Median paired speedup 0.929x.</a:t>
            </a:r>
          </a:p>
        </p:txBody>
      </p:sp>
      <p:sp>
        <p:nvSpPr>
          <p:cNvPr id="5" name="">
            <a:extLst xmlns:a="http://schemas.openxmlformats.org/drawingml/2006/main">
              <a:ext uri="{FF2B5EF4-FFF2-40B4-BE49-F238E27FC236}">
                <a16:creationId xmlns:a16="http://schemas.microsoft.com/office/drawing/2014/main" id="{73709223-7478-448C-A57C-9F6BC652B7D7}"/>
              </a:ext>
            </a:extLst>
          </p:cNvPr>
          <p:cNvSpPr>
            <a:spLocks xmlns:a="http://schemas.openxmlformats.org/drawingml/2006/main" noGrp="1"/>
          </p:cNvSpPr>
          <p:nvPr/>
        </p:nvSpPr>
        <p:spPr>
          <a:xfrm xmlns:a="http://schemas.openxmlformats.org/drawingml/2006/main">
            <a:off x="11239500" y="651510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8616E"/>
                </a:solidFill>
                <a:latin typeface="Arial"/>
                <a:ea typeface="Arial"/>
                <a:cs typeface="Arial"/>
              </a:defRPr>
            </a:pPr>
            <a:r>
              <a:rPr sz="1200" b="0">
                <a:solidFill>
                  <a:srgbClr val="48616E"/>
                </a:solidFill>
                <a:latin typeface="Arial"/>
                <a:ea typeface="Arial"/>
                <a:cs typeface="Arial"/>
              </a:rPr>
              <a:t>7</a:t>
            </a:r>
          </a:p>
        </p:txBody>
      </p:sp>
    </p:spTree>
    <p:extLst>
      <p:ext uri="{BB962C8B-B14F-4D97-AF65-F5344CB8AC3E}">
        <p14:creationId xmlns:p14="http://schemas.microsoft.com/office/powerpoint/2010/main" val="4013897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C1B0F0E-57FB-43B5-95F1-E8442B9751F8}"/>
              </a:ext>
            </a:extLst>
          </p:cNvPr>
          <p:cNvSpPr>
            <a:spLocks xmlns:a="http://schemas.openxmlformats.org/drawingml/2006/main" noGrp="1"/>
          </p:cNvSpPr>
          <p:nvPr/>
        </p:nvSpPr>
        <p:spPr>
          <a:xfrm xmlns:a="http://schemas.openxmlformats.org/drawingml/2006/main">
            <a:off x="571500" y="333375"/>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247"/>
                </a:solidFill>
                <a:latin typeface="Arial"/>
                <a:ea typeface="Arial"/>
                <a:cs typeface="Arial"/>
              </a:defRPr>
            </a:pPr>
            <a:r>
              <a:rPr sz="3150" b="1">
                <a:solidFill>
                  <a:srgbClr val="183247"/>
                </a:solidFill>
                <a:latin typeface="Arial"/>
                <a:ea typeface="Arial"/>
                <a:cs typeface="Arial"/>
              </a:rPr>
              <a:t>Conclusions and questions</a:t>
            </a:r>
          </a:p>
        </p:txBody>
      </p:sp>
      <p:sp>
        <p:nvSpPr>
          <p:cNvPr id="2" name="">
            <a:extLst xmlns:a="http://schemas.openxmlformats.org/drawingml/2006/main">
              <a:ext uri="{FF2B5EF4-FFF2-40B4-BE49-F238E27FC236}">
                <a16:creationId xmlns:a16="http://schemas.microsoft.com/office/drawing/2014/main" id="{489508DF-7E42-40AA-9F87-FB654A1154D2}"/>
              </a:ext>
            </a:extLst>
          </p:cNvPr>
          <p:cNvSpPr>
            <a:spLocks xmlns:a="http://schemas.openxmlformats.org/drawingml/2006/main" noGrp="1"/>
          </p:cNvSpPr>
          <p:nvPr/>
        </p:nvSpPr>
        <p:spPr>
          <a:xfrm xmlns:a="http://schemas.openxmlformats.org/drawingml/2006/main">
            <a:off x="714375" y="1619250"/>
            <a:ext cx="107632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83247"/>
                </a:solidFill>
                <a:latin typeface="Arial"/>
                <a:ea typeface="Arial"/>
                <a:cs typeface="Arial"/>
              </a:defRPr>
            </a:pPr>
            <a:r>
              <a:rPr sz="2550" b="0">
                <a:solidFill>
                  <a:srgbClr val="183247"/>
                </a:solidFill>
                <a:latin typeface="Arial"/>
                <a:ea typeface="Arial"/>
                <a:cs typeface="Arial"/>
              </a:rPr>
              <a:t>Hybrid was slower in 3 of 3 final CPU pairs.</a:t>
            </a:r>
          </a:p>
          <a:p xmlns:a="http://schemas.openxmlformats.org/drawingml/2006/main">
            <a:pPr>
              <a:defRPr sz="2550" b="0">
                <a:solidFill>
                  <a:srgbClr val="183247"/>
                </a:solidFill>
                <a:latin typeface="Arial"/>
                <a:ea typeface="Arial"/>
                <a:cs typeface="Arial"/>
              </a:defRPr>
            </a:pPr>
            <a:r>
              <a:rPr sz="2550" b="0">
                <a:solidFill>
                  <a:srgbClr val="183247"/>
                </a:solidFill>
                <a:latin typeface="Arial"/>
                <a:ea typeface="Arial"/>
                <a:cs typeface="Arial"/>
              </a:rPr>
              <a:t>Median paired speedup: 0.929x.</a:t>
            </a:r>
          </a:p>
          <a:p xmlns:a="http://schemas.openxmlformats.org/drawingml/2006/main">
            <a:r>
              <a:t/>
            </a:r>
          </a:p>
          <a:p xmlns:a="http://schemas.openxmlformats.org/drawingml/2006/main">
            <a:pPr>
              <a:defRPr sz="2550" b="0">
                <a:solidFill>
                  <a:srgbClr val="183247"/>
                </a:solidFill>
                <a:latin typeface="Arial"/>
                <a:ea typeface="Arial"/>
                <a:cs typeface="Arial"/>
              </a:defRPr>
            </a:pPr>
            <a:r>
              <a:rPr sz="2550" b="0">
                <a:solidFill>
                  <a:srgbClr val="183247"/>
                </a:solidFill>
                <a:latin typeface="Arial"/>
                <a:ea typeface="Arial"/>
                <a:cs typeface="Arial"/>
              </a:rPr>
              <a:t>CPU time and key comparisons measure different costs.</a:t>
            </a:r>
          </a:p>
          <a:p xmlns:a="http://schemas.openxmlformats.org/drawingml/2006/main">
            <a:r>
              <a:t/>
            </a:r>
          </a:p>
          <a:p xmlns:a="http://schemas.openxmlformats.org/drawingml/2006/main">
            <a:pPr>
              <a:defRPr sz="2550" b="0">
                <a:solidFill>
                  <a:srgbClr val="183247"/>
                </a:solidFill>
                <a:latin typeface="Arial"/>
                <a:ea typeface="Arial"/>
                <a:cs typeface="Arial"/>
              </a:defRPr>
            </a:pPr>
            <a:r>
              <a:rPr sz="2550" b="0">
                <a:solidFill>
                  <a:srgbClr val="183247"/>
                </a:solidFill>
                <a:latin typeface="Arial"/>
                <a:ea typeface="Arial"/>
                <a:cs typeface="Arial"/>
              </a:rPr>
              <a:t>S=12 follows a finite, noisy search and an explicit tie-break.</a:t>
            </a:r>
          </a:p>
          <a:p xmlns:a="http://schemas.openxmlformats.org/drawingml/2006/main">
            <a:r>
              <a:t/>
            </a:r>
          </a:p>
          <a:p xmlns:a="http://schemas.openxmlformats.org/drawingml/2006/main">
            <a:pPr>
              <a:defRPr sz="2550" b="0">
                <a:solidFill>
                  <a:srgbClr val="183247"/>
                </a:solidFill>
                <a:latin typeface="Arial"/>
                <a:ea typeface="Arial"/>
                <a:cs typeface="Arial"/>
              </a:defRPr>
            </a:pPr>
            <a:r>
              <a:rPr sz="2550" b="0">
                <a:solidFill>
                  <a:srgbClr val="183247"/>
                </a:solidFill>
                <a:latin typeface="Arial"/>
                <a:ea typeface="Arial"/>
                <a:cs typeface="Arial"/>
              </a:rPr>
              <a:t>One interpreter, one machine, uniform integer inputs.</a:t>
            </a:r>
          </a:p>
        </p:txBody>
      </p:sp>
      <p:sp>
        <p:nvSpPr>
          <p:cNvPr id="3" name="">
            <a:extLst xmlns:a="http://schemas.openxmlformats.org/drawingml/2006/main">
              <a:ext uri="{FF2B5EF4-FFF2-40B4-BE49-F238E27FC236}">
                <a16:creationId xmlns:a16="http://schemas.microsoft.com/office/drawing/2014/main" id="{DF80AD03-387E-417D-A4AE-2E26FBDB3E5B}"/>
              </a:ext>
            </a:extLst>
          </p:cNvPr>
          <p:cNvSpPr>
            <a:spLocks xmlns:a="http://schemas.openxmlformats.org/drawingml/2006/main" noGrp="1"/>
          </p:cNvSpPr>
          <p:nvPr/>
        </p:nvSpPr>
        <p:spPr>
          <a:xfrm xmlns:a="http://schemas.openxmlformats.org/drawingml/2006/main">
            <a:off x="714375" y="55626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66A8F"/>
                </a:solidFill>
                <a:latin typeface="Arial"/>
                <a:ea typeface="Arial"/>
                <a:cs typeface="Arial"/>
              </a:defRPr>
            </a:pPr>
            <a:r>
              <a:rPr sz="2850" b="1">
                <a:solidFill>
                  <a:srgbClr val="166A8F"/>
                </a:solidFill>
                <a:latin typeface="Arial"/>
                <a:ea typeface="Arial"/>
                <a:cs typeface="Arial"/>
              </a:rPr>
              <a:t>2 minutes of Q&amp;A</a:t>
            </a:r>
          </a:p>
        </p:txBody>
      </p:sp>
      <p:sp>
        <p:nvSpPr>
          <p:cNvPr id="4" name="">
            <a:extLst xmlns:a="http://schemas.openxmlformats.org/drawingml/2006/main">
              <a:ext uri="{FF2B5EF4-FFF2-40B4-BE49-F238E27FC236}">
                <a16:creationId xmlns:a16="http://schemas.microsoft.com/office/drawing/2014/main" id="{D0027AF2-C8C6-46A9-8C68-185C3E8CEFF0}"/>
              </a:ext>
            </a:extLst>
          </p:cNvPr>
          <p:cNvSpPr>
            <a:spLocks xmlns:a="http://schemas.openxmlformats.org/drawingml/2006/main" noGrp="1"/>
          </p:cNvSpPr>
          <p:nvPr/>
        </p:nvSpPr>
        <p:spPr>
          <a:xfrm xmlns:a="http://schemas.openxmlformats.org/drawingml/2006/main">
            <a:off x="11239500" y="651510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8616E"/>
                </a:solidFill>
                <a:latin typeface="Arial"/>
                <a:ea typeface="Arial"/>
                <a:cs typeface="Arial"/>
              </a:defRPr>
            </a:pPr>
            <a:r>
              <a:rPr sz="1200" b="0">
                <a:solidFill>
                  <a:srgbClr val="48616E"/>
                </a:solidFill>
                <a:latin typeface="Arial"/>
                <a:ea typeface="Arial"/>
                <a:cs typeface="Arial"/>
              </a:rPr>
              <a:t>8</a:t>
            </a:r>
          </a:p>
        </p:txBody>
      </p:sp>
    </p:spTree>
    <p:extLst>
      <p:ext uri="{BB962C8B-B14F-4D97-AF65-F5344CB8AC3E}">
        <p14:creationId xmlns:p14="http://schemas.microsoft.com/office/powerpoint/2010/main" val="59431755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43881D-EB9C-4429-8897-92030235AFB0}"/>
              </a:ext>
            </a:extLst>
          </p:cNvPr>
          <p:cNvSpPr>
            <a:spLocks xmlns:a="http://schemas.openxmlformats.org/drawingml/2006/main" noGrp="1"/>
          </p:cNvSpPr>
          <p:nvPr/>
        </p:nvSpPr>
        <p:spPr>
          <a:xfrm xmlns:a="http://schemas.openxmlformats.org/drawingml/2006/main">
            <a:off x="571500" y="333375"/>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247"/>
                </a:solidFill>
                <a:latin typeface="Arial"/>
                <a:ea typeface="Arial"/>
                <a:cs typeface="Arial"/>
              </a:defRPr>
            </a:pPr>
            <a:r>
              <a:rPr sz="3150" b="1">
                <a:solidFill>
                  <a:srgbClr val="183247"/>
                </a:solidFill>
                <a:latin typeface="Arial"/>
                <a:ea typeface="Arial"/>
                <a:cs typeface="Arial"/>
              </a:rPr>
              <a:t>Appendix: exact comparison models</a:t>
            </a:r>
          </a:p>
        </p:txBody>
      </p:sp>
      <p:sp>
        <p:nvSpPr>
          <p:cNvPr id="2" name="">
            <a:extLst xmlns:a="http://schemas.openxmlformats.org/drawingml/2006/main">
              <a:ext uri="{FF2B5EF4-FFF2-40B4-BE49-F238E27FC236}">
                <a16:creationId xmlns:a16="http://schemas.microsoft.com/office/drawing/2014/main" id="{DEAEA0C2-4B1B-4A47-A2F9-F489B941D59B}"/>
              </a:ext>
            </a:extLst>
          </p:cNvPr>
          <p:cNvSpPr>
            <a:spLocks xmlns:a="http://schemas.openxmlformats.org/drawingml/2006/main" noGrp="1"/>
          </p:cNvSpPr>
          <p:nvPr/>
        </p:nvSpPr>
        <p:spPr>
          <a:xfrm xmlns:a="http://schemas.openxmlformats.org/drawingml/2006/main">
            <a:off x="571500" y="152400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6A8F"/>
                </a:solidFill>
                <a:latin typeface="Arial"/>
                <a:ea typeface="Arial"/>
                <a:cs typeface="Arial"/>
              </a:defRPr>
            </a:pPr>
            <a:r>
              <a:rPr sz="2250" b="1">
                <a:solidFill>
                  <a:srgbClr val="166A8F"/>
                </a:solidFill>
                <a:latin typeface="Arial"/>
                <a:ea typeface="Arial"/>
                <a:cs typeface="Arial"/>
              </a:rPr>
              <a:t>Merge sort</a:t>
            </a:r>
          </a:p>
        </p:txBody>
      </p:sp>
      <p:sp>
        <p:nvSpPr>
          <p:cNvPr id="3" name="">
            <a:extLst xmlns:a="http://schemas.openxmlformats.org/drawingml/2006/main">
              <a:ext uri="{FF2B5EF4-FFF2-40B4-BE49-F238E27FC236}">
                <a16:creationId xmlns:a16="http://schemas.microsoft.com/office/drawing/2014/main" id="{9B13AE10-A975-4623-A972-BAD1CAF0950D}"/>
              </a:ext>
            </a:extLst>
          </p:cNvPr>
          <p:cNvSpPr>
            <a:spLocks xmlns:a="http://schemas.openxmlformats.org/drawingml/2006/main" noGrp="1"/>
          </p:cNvSpPr>
          <p:nvPr/>
        </p:nvSpPr>
        <p:spPr>
          <a:xfrm xmlns:a="http://schemas.openxmlformats.org/drawingml/2006/main">
            <a:off x="571500" y="2209800"/>
            <a:ext cx="52387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Worst comparisons:</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n ceil(log2 n) - 2^ceil(log2 n) + 1</a:t>
            </a:r>
          </a:p>
          <a:p xmlns:a="http://schemas.openxmlformats.org/drawingml/2006/main">
            <a:r>
              <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Random distinct merge of lengths a,b:</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a+b - a/(b+1) - b/(a+1)</a:t>
            </a:r>
          </a:p>
          <a:p xmlns:a="http://schemas.openxmlformats.org/drawingml/2006/main">
            <a:r>
              <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Insertion expectation for m items:</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m(m-1)/4 + m - H_m</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H_m = 1 + 1/2 + ... + 1/m</a:t>
            </a:r>
          </a:p>
        </p:txBody>
      </p:sp>
      <p:sp>
        <p:nvSpPr>
          <p:cNvPr id="4" name="">
            <a:extLst xmlns:a="http://schemas.openxmlformats.org/drawingml/2006/main">
              <a:ext uri="{FF2B5EF4-FFF2-40B4-BE49-F238E27FC236}">
                <a16:creationId xmlns:a16="http://schemas.microsoft.com/office/drawing/2014/main" id="{A3F2D6C2-9F31-402B-BE29-C377DECF3F86}"/>
              </a:ext>
            </a:extLst>
          </p:cNvPr>
          <p:cNvSpPr>
            <a:spLocks xmlns:a="http://schemas.openxmlformats.org/drawingml/2006/main" noGrp="1"/>
          </p:cNvSpPr>
          <p:nvPr/>
        </p:nvSpPr>
        <p:spPr>
          <a:xfrm xmlns:a="http://schemas.openxmlformats.org/drawingml/2006/main">
            <a:off x="6448425" y="15240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4532D"/>
                </a:solidFill>
                <a:latin typeface="Arial"/>
                <a:ea typeface="Arial"/>
                <a:cs typeface="Arial"/>
              </a:defRPr>
            </a:pPr>
            <a:r>
              <a:rPr sz="2250" b="1">
                <a:solidFill>
                  <a:srgbClr val="C4532D"/>
                </a:solidFill>
                <a:latin typeface="Arial"/>
                <a:ea typeface="Arial"/>
                <a:cs typeface="Arial"/>
              </a:rPr>
              <a:t>Hybrid regimes</a:t>
            </a:r>
          </a:p>
        </p:txBody>
      </p:sp>
      <p:sp>
        <p:nvSpPr>
          <p:cNvPr id="5" name="">
            <a:extLst xmlns:a="http://schemas.openxmlformats.org/drawingml/2006/main">
              <a:ext uri="{FF2B5EF4-FFF2-40B4-BE49-F238E27FC236}">
                <a16:creationId xmlns:a16="http://schemas.microsoft.com/office/drawing/2014/main" id="{D050036A-5EB1-4C4C-9605-257C0C9CF2C8}"/>
              </a:ext>
            </a:extLst>
          </p:cNvPr>
          <p:cNvSpPr>
            <a:spLocks xmlns:a="http://schemas.openxmlformats.org/drawingml/2006/main" noGrp="1"/>
          </p:cNvSpPr>
          <p:nvPr/>
        </p:nvSpPr>
        <p:spPr>
          <a:xfrm xmlns:a="http://schemas.openxmlformats.org/drawingml/2006/main">
            <a:off x="6448425" y="2209800"/>
            <a:ext cx="519112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Worst/average (random distinct):</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Theta(n log(n/S) + nS), for S&lt;=n</a:t>
            </a:r>
          </a:p>
          <a:p xmlns:a="http://schemas.openxmlformats.org/drawingml/2006/main">
            <a:r>
              <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Fixed S: Theta(n log n)</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S=log n: Theta(n log n)</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S=n^alpha: Theta(n^(1+alpha))</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S&gt;=n: insertion only</a:t>
            </a:r>
          </a:p>
          <a:p xmlns:a="http://schemas.openxmlformats.org/drawingml/2006/main">
            <a:r>
              <a:t/>
            </a:r>
          </a:p>
          <a:p xmlns:a="http://schemas.openxmlformats.org/drawingml/2006/main">
            <a:pPr>
              <a:defRPr sz="2025" b="0">
                <a:solidFill>
                  <a:srgbClr val="183247"/>
                </a:solidFill>
                <a:latin typeface="Arial"/>
                <a:ea typeface="Arial"/>
                <a:cs typeface="Arial"/>
              </a:defRPr>
            </a:pPr>
            <a:r>
              <a:rPr sz="2025" b="0">
                <a:solidFill>
                  <a:srgbClr val="183247"/>
                </a:solidFill>
                <a:latin typeface="Arial"/>
                <a:ea typeface="Arial"/>
                <a:cs typeface="Arial"/>
              </a:rPr>
              <a:t>Buffer O(n), recursion O(log n)</a:t>
            </a:r>
          </a:p>
        </p:txBody>
      </p:sp>
      <p:sp>
        <p:nvSpPr>
          <p:cNvPr id="6" name="">
            <a:extLst xmlns:a="http://schemas.openxmlformats.org/drawingml/2006/main">
              <a:ext uri="{FF2B5EF4-FFF2-40B4-BE49-F238E27FC236}">
                <a16:creationId xmlns:a16="http://schemas.microsoft.com/office/drawing/2014/main" id="{F2CF79F3-DC68-4DC1-8C6C-A8F46C3AA312}"/>
              </a:ext>
            </a:extLst>
          </p:cNvPr>
          <p:cNvSpPr>
            <a:spLocks xmlns:a="http://schemas.openxmlformats.org/drawingml/2006/main" noGrp="1"/>
          </p:cNvSpPr>
          <p:nvPr/>
        </p:nvSpPr>
        <p:spPr>
          <a:xfrm xmlns:a="http://schemas.openxmlformats.org/drawingml/2006/main">
            <a:off x="11239500" y="651510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8616E"/>
                </a:solidFill>
                <a:latin typeface="Arial"/>
                <a:ea typeface="Arial"/>
                <a:cs typeface="Arial"/>
              </a:defRPr>
            </a:pPr>
            <a:r>
              <a:rPr sz="1200" b="0">
                <a:solidFill>
                  <a:srgbClr val="48616E"/>
                </a:solidFill>
                <a:latin typeface="Arial"/>
                <a:ea typeface="Arial"/>
                <a:cs typeface="Arial"/>
              </a:rPr>
              <a:t>9</a:t>
            </a:r>
          </a:p>
        </p:txBody>
      </p:sp>
    </p:spTree>
    <p:extLst>
      <p:ext uri="{BB962C8B-B14F-4D97-AF65-F5344CB8AC3E}">
        <p14:creationId xmlns:p14="http://schemas.microsoft.com/office/powerpoint/2010/main" val="3412567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68D45C5-83B5-4BD0-9E18-C21AB9E275E3}"/>
              </a:ext>
            </a:extLst>
          </p:cNvPr>
          <p:cNvSpPr>
            <a:spLocks xmlns:a="http://schemas.openxmlformats.org/drawingml/2006/main" noGrp="1"/>
          </p:cNvSpPr>
          <p:nvPr/>
        </p:nvSpPr>
        <p:spPr>
          <a:xfrm xmlns:a="http://schemas.openxmlformats.org/drawingml/2006/main">
            <a:off x="571500" y="333375"/>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247"/>
                </a:solidFill>
                <a:latin typeface="Arial"/>
                <a:ea typeface="Arial"/>
                <a:cs typeface="Arial"/>
              </a:defRPr>
            </a:pPr>
            <a:r>
              <a:rPr sz="3150" b="1">
                <a:solidFill>
                  <a:srgbClr val="183247"/>
                </a:solidFill>
                <a:latin typeface="Arial"/>
                <a:ea typeface="Arial"/>
                <a:cs typeface="Arial"/>
              </a:rPr>
              <a:t>Appendix: raw final measurements</a:t>
            </a:r>
          </a:p>
        </p:txBody>
      </p:sp>
      <p:graphicFrame>
        <p:nvGraphicFramePr>
          <p:cNvPr id="6" name=""/>
          <p:cNvGraphicFramePr/>
          <p:nvPr/>
        </p:nvGraphicFramePr>
        <p:xfrm>
          <a:off xmlns:a="http://schemas.openxmlformats.org/drawingml/2006/main" x="609600" y="1714500"/>
          <a:ext xmlns:a="http://schemas.openxmlformats.org/drawingml/2006/main" cx="10972800" cy="3714750"/>
        </p:xfrm>
        <a:graphic xmlns:a="http://schemas.openxmlformats.org/drawingml/2006/main">
          <a:graphicData uri="http://schemas.openxmlformats.org/drawingml/2006/table">
            <a:tbl>
              <a:tblPr/>
              <a:tblGrid>
                <a:gridCol w="2194560"/>
                <a:gridCol w="2194560"/>
                <a:gridCol w="2194560"/>
                <a:gridCol w="2194560"/>
                <a:gridCol w="2194560"/>
              </a:tblGrid>
              <a:tr h="530679">
                <a:tc>
                  <a:txBody>
                    <a:bodyPr/>
                    <a:lstStyle/>
                    <a:p>
                      <a:r>
                        <a:rPr sz="1875" b="1">
                          <a:solidFill>
                            <a:srgbClr val="FFFFFF"/>
                          </a:solidFill>
                          <a:latin typeface="Arial"/>
                          <a:ea typeface="Arial"/>
                          <a:cs typeface="Arial"/>
                        </a:rPr>
                        <a:t>Seed</a:t>
                      </a:r>
                    </a:p>
                  </a:txBody>
                  <a:tcPr marL="91440" marR="91440" marT="45720" marB="45720">
                    <a:solidFill>
                      <a:srgbClr val="166A8F"/>
                    </a:solidFill>
                  </a:tcPr>
                </a:tc>
                <a:tc>
                  <a:txBody>
                    <a:bodyPr/>
                    <a:lstStyle/>
                    <a:p>
                      <a:r>
                        <a:rPr sz="1875" b="1">
                          <a:solidFill>
                            <a:srgbClr val="FFFFFF"/>
                          </a:solidFill>
                          <a:latin typeface="Arial"/>
                          <a:ea typeface="Arial"/>
                          <a:cs typeface="Arial"/>
                        </a:rPr>
                        <a:t>Algorithm</a:t>
                      </a:r>
                    </a:p>
                  </a:txBody>
                  <a:tcPr marL="91440" marR="91440" marT="45720" marB="45720">
                    <a:solidFill>
                      <a:srgbClr val="166A8F"/>
                    </a:solidFill>
                  </a:tcPr>
                </a:tc>
                <a:tc>
                  <a:txBody>
                    <a:bodyPr/>
                    <a:lstStyle/>
                    <a:p>
                      <a:r>
                        <a:rPr sz="1875" b="1">
                          <a:solidFill>
                            <a:srgbClr val="FFFFFF"/>
                          </a:solidFill>
                          <a:latin typeface="Arial"/>
                          <a:ea typeface="Arial"/>
                          <a:cs typeface="Arial"/>
                        </a:rPr>
                        <a:t>S</a:t>
                      </a:r>
                    </a:p>
                  </a:txBody>
                  <a:tcPr marL="91440" marR="91440" marT="45720" marB="45720">
                    <a:solidFill>
                      <a:srgbClr val="166A8F"/>
                    </a:solidFill>
                  </a:tcPr>
                </a:tc>
                <a:tc>
                  <a:txBody>
                    <a:bodyPr/>
                    <a:lstStyle/>
                    <a:p>
                      <a:r>
                        <a:rPr sz="1875" b="1">
                          <a:solidFill>
                            <a:srgbClr val="FFFFFF"/>
                          </a:solidFill>
                          <a:latin typeface="Arial"/>
                          <a:ea typeface="Arial"/>
                          <a:cs typeface="Arial"/>
                        </a:rPr>
                        <a:t>CPU seconds</a:t>
                      </a:r>
                    </a:p>
                  </a:txBody>
                  <a:tcPr marL="91440" marR="91440" marT="45720" marB="45720">
                    <a:solidFill>
                      <a:srgbClr val="166A8F"/>
                    </a:solidFill>
                  </a:tcPr>
                </a:tc>
                <a:tc>
                  <a:txBody>
                    <a:bodyPr/>
                    <a:lstStyle/>
                    <a:p>
                      <a:r>
                        <a:rPr sz="1875" b="1">
                          <a:solidFill>
                            <a:srgbClr val="FFFFFF"/>
                          </a:solidFill>
                          <a:latin typeface="Arial"/>
                          <a:ea typeface="Arial"/>
                          <a:cs typeface="Arial"/>
                        </a:rPr>
                        <a:t>Key comparisons</a:t>
                      </a:r>
                    </a:p>
                  </a:txBody>
                  <a:tcPr marL="91440" marR="91440" marT="45720" marB="45720">
                    <a:solidFill>
                      <a:srgbClr val="166A8F"/>
                    </a:solidFill>
                  </a:tcPr>
                </a:tc>
              </a:tr>
              <a:tr h="530679">
                <a:tc>
                  <a:txBody>
                    <a:bodyPr/>
                    <a:lstStyle/>
                    <a:p>
                      <a:r>
                        <a:rPr sz="1875" b="0">
                          <a:solidFill>
                            <a:srgbClr val="183247"/>
                          </a:solidFill>
                          <a:latin typeface="Arial"/>
                          <a:ea typeface="Arial"/>
                          <a:cs typeface="Arial"/>
                        </a:rPr>
                        <a:t>100900100</a:t>
                      </a:r>
                    </a:p>
                  </a:txBody>
                  <a:tcPr marL="91440" marR="91440" marT="45720" marB="45720">
                    <a:solidFill>
                      <a:srgbClr val="FFFFFF"/>
                    </a:solidFill>
                  </a:tcPr>
                </a:tc>
                <a:tc>
                  <a:txBody>
                    <a:bodyPr/>
                    <a:lstStyle/>
                    <a:p>
                      <a:r>
                        <a:rPr sz="1875" b="0">
                          <a:solidFill>
                            <a:srgbClr val="183247"/>
                          </a:solidFill>
                          <a:latin typeface="Arial"/>
                          <a:ea typeface="Arial"/>
                          <a:cs typeface="Arial"/>
                        </a:rPr>
                        <a:t>original</a:t>
                      </a:r>
                    </a:p>
                  </a:txBody>
                  <a:tcPr marL="91440" marR="91440" marT="45720" marB="45720">
                    <a:solidFill>
                      <a:srgbClr val="FFFFFF"/>
                    </a:solidFill>
                  </a:tcPr>
                </a:tc>
                <a:tc>
                  <a:txBody>
                    <a:bodyPr/>
                    <a:lstStyle/>
                    <a:p>
                      <a:r>
                        <a:rPr sz="1875" b="0">
                          <a:solidFill>
                            <a:srgbClr val="183247"/>
                          </a:solidFill>
                          <a:latin typeface="Arial"/>
                          <a:ea typeface="Arial"/>
                          <a:cs typeface="Arial"/>
                        </a:rPr>
                        <a:t>1</a:t>
                      </a:r>
                    </a:p>
                  </a:txBody>
                  <a:tcPr marL="91440" marR="91440" marT="45720" marB="45720">
                    <a:solidFill>
                      <a:srgbClr val="FFFFFF"/>
                    </a:solidFill>
                  </a:tcPr>
                </a:tc>
                <a:tc>
                  <a:txBody>
                    <a:bodyPr/>
                    <a:lstStyle/>
                    <a:p>
                      <a:r>
                        <a:rPr sz="1875" b="0">
                          <a:solidFill>
                            <a:srgbClr val="183247"/>
                          </a:solidFill>
                          <a:latin typeface="Arial"/>
                          <a:ea typeface="Arial"/>
                          <a:cs typeface="Arial"/>
                        </a:rPr>
                        <a:t>78.968750</a:t>
                      </a:r>
                    </a:p>
                  </a:txBody>
                  <a:tcPr marL="91440" marR="91440" marT="45720" marB="45720">
                    <a:solidFill>
                      <a:srgbClr val="FFFFFF"/>
                    </a:solidFill>
                  </a:tcPr>
                </a:tc>
                <a:tc>
                  <a:txBody>
                    <a:bodyPr/>
                    <a:lstStyle/>
                    <a:p>
                      <a:r>
                        <a:rPr sz="1875" b="0">
                          <a:solidFill>
                            <a:srgbClr val="183247"/>
                          </a:solidFill>
                          <a:latin typeface="Arial"/>
                          <a:ea typeface="Arial"/>
                          <a:cs typeface="Arial"/>
                        </a:rPr>
                        <a:t>220,095,927</a:t>
                      </a:r>
                    </a:p>
                  </a:txBody>
                  <a:tcPr marL="91440" marR="91440" marT="45720" marB="45720">
                    <a:solidFill>
                      <a:srgbClr val="FFFFFF"/>
                    </a:solidFill>
                  </a:tcPr>
                </a:tc>
              </a:tr>
              <a:tr h="530679">
                <a:tc>
                  <a:txBody>
                    <a:bodyPr/>
                    <a:lstStyle/>
                    <a:p>
                      <a:r>
                        <a:rPr sz="1875" b="0">
                          <a:solidFill>
                            <a:srgbClr val="183247"/>
                          </a:solidFill>
                          <a:latin typeface="Arial"/>
                          <a:ea typeface="Arial"/>
                          <a:cs typeface="Arial"/>
                        </a:rPr>
                        <a:t>100900100</a:t>
                      </a:r>
                    </a:p>
                  </a:txBody>
                  <a:tcPr marL="91440" marR="91440" marT="45720" marB="45720">
                    <a:solidFill>
                      <a:srgbClr val="FFFFFF"/>
                    </a:solidFill>
                  </a:tcPr>
                </a:tc>
                <a:tc>
                  <a:txBody>
                    <a:bodyPr/>
                    <a:lstStyle/>
                    <a:p>
                      <a:r>
                        <a:rPr sz="1875" b="0">
                          <a:solidFill>
                            <a:srgbClr val="183247"/>
                          </a:solidFill>
                          <a:latin typeface="Arial"/>
                          <a:ea typeface="Arial"/>
                          <a:cs typeface="Arial"/>
                        </a:rPr>
                        <a:t>hybrid</a:t>
                      </a:r>
                    </a:p>
                  </a:txBody>
                  <a:tcPr marL="91440" marR="91440" marT="45720" marB="45720">
                    <a:solidFill>
                      <a:srgbClr val="FFFFFF"/>
                    </a:solidFill>
                  </a:tcPr>
                </a:tc>
                <a:tc>
                  <a:txBody>
                    <a:bodyPr/>
                    <a:lstStyle/>
                    <a:p>
                      <a:r>
                        <a:rPr sz="1875" b="0">
                          <a:solidFill>
                            <a:srgbClr val="183247"/>
                          </a:solidFill>
                          <a:latin typeface="Arial"/>
                          <a:ea typeface="Arial"/>
                          <a:cs typeface="Arial"/>
                        </a:rPr>
                        <a:t>12</a:t>
                      </a:r>
                    </a:p>
                  </a:txBody>
                  <a:tcPr marL="91440" marR="91440" marT="45720" marB="45720">
                    <a:solidFill>
                      <a:srgbClr val="FFFFFF"/>
                    </a:solidFill>
                  </a:tcPr>
                </a:tc>
                <a:tc>
                  <a:txBody>
                    <a:bodyPr/>
                    <a:lstStyle/>
                    <a:p>
                      <a:r>
                        <a:rPr sz="1875" b="0">
                          <a:solidFill>
                            <a:srgbClr val="183247"/>
                          </a:solidFill>
                          <a:latin typeface="Arial"/>
                          <a:ea typeface="Arial"/>
                          <a:cs typeface="Arial"/>
                        </a:rPr>
                        <a:t>85.000000</a:t>
                      </a:r>
                    </a:p>
                  </a:txBody>
                  <a:tcPr marL="91440" marR="91440" marT="45720" marB="45720">
                    <a:solidFill>
                      <a:srgbClr val="FFFFFF"/>
                    </a:solidFill>
                  </a:tcPr>
                </a:tc>
                <a:tc>
                  <a:txBody>
                    <a:bodyPr/>
                    <a:lstStyle/>
                    <a:p>
                      <a:r>
                        <a:rPr sz="1875" b="0">
                          <a:solidFill>
                            <a:srgbClr val="183247"/>
                          </a:solidFill>
                          <a:latin typeface="Arial"/>
                          <a:ea typeface="Arial"/>
                          <a:cs typeface="Arial"/>
                        </a:rPr>
                        <a:t>226,418,149</a:t>
                      </a:r>
                    </a:p>
                  </a:txBody>
                  <a:tcPr marL="91440" marR="91440" marT="45720" marB="45720">
                    <a:solidFill>
                      <a:srgbClr val="FFFFFF"/>
                    </a:solidFill>
                  </a:tcPr>
                </a:tc>
              </a:tr>
              <a:tr h="530679">
                <a:tc>
                  <a:txBody>
                    <a:bodyPr/>
                    <a:lstStyle/>
                    <a:p>
                      <a:r>
                        <a:rPr sz="1875" b="0">
                          <a:solidFill>
                            <a:srgbClr val="183247"/>
                          </a:solidFill>
                          <a:latin typeface="Arial"/>
                          <a:ea typeface="Arial"/>
                          <a:cs typeface="Arial"/>
                        </a:rPr>
                        <a:t>100900101</a:t>
                      </a:r>
                    </a:p>
                  </a:txBody>
                  <a:tcPr marL="91440" marR="91440" marT="45720" marB="45720">
                    <a:solidFill>
                      <a:srgbClr val="FFFFFF"/>
                    </a:solidFill>
                  </a:tcPr>
                </a:tc>
                <a:tc>
                  <a:txBody>
                    <a:bodyPr/>
                    <a:lstStyle/>
                    <a:p>
                      <a:r>
                        <a:rPr sz="1875" b="0">
                          <a:solidFill>
                            <a:srgbClr val="183247"/>
                          </a:solidFill>
                          <a:latin typeface="Arial"/>
                          <a:ea typeface="Arial"/>
                          <a:cs typeface="Arial"/>
                        </a:rPr>
                        <a:t>original</a:t>
                      </a:r>
                    </a:p>
                  </a:txBody>
                  <a:tcPr marL="91440" marR="91440" marT="45720" marB="45720">
                    <a:solidFill>
                      <a:srgbClr val="FFFFFF"/>
                    </a:solidFill>
                  </a:tcPr>
                </a:tc>
                <a:tc>
                  <a:txBody>
                    <a:bodyPr/>
                    <a:lstStyle/>
                    <a:p>
                      <a:r>
                        <a:rPr sz="1875" b="0">
                          <a:solidFill>
                            <a:srgbClr val="183247"/>
                          </a:solidFill>
                          <a:latin typeface="Arial"/>
                          <a:ea typeface="Arial"/>
                          <a:cs typeface="Arial"/>
                        </a:rPr>
                        <a:t>1</a:t>
                      </a:r>
                    </a:p>
                  </a:txBody>
                  <a:tcPr marL="91440" marR="91440" marT="45720" marB="45720">
                    <a:solidFill>
                      <a:srgbClr val="FFFFFF"/>
                    </a:solidFill>
                  </a:tcPr>
                </a:tc>
                <a:tc>
                  <a:txBody>
                    <a:bodyPr/>
                    <a:lstStyle/>
                    <a:p>
                      <a:r>
                        <a:rPr sz="1875" b="0">
                          <a:solidFill>
                            <a:srgbClr val="183247"/>
                          </a:solidFill>
                          <a:latin typeface="Arial"/>
                          <a:ea typeface="Arial"/>
                          <a:cs typeface="Arial"/>
                        </a:rPr>
                        <a:t>92.093750</a:t>
                      </a:r>
                    </a:p>
                  </a:txBody>
                  <a:tcPr marL="91440" marR="91440" marT="45720" marB="45720">
                    <a:solidFill>
                      <a:srgbClr val="FFFFFF"/>
                    </a:solidFill>
                  </a:tcPr>
                </a:tc>
                <a:tc>
                  <a:txBody>
                    <a:bodyPr/>
                    <a:lstStyle/>
                    <a:p>
                      <a:r>
                        <a:rPr sz="1875" b="0">
                          <a:solidFill>
                            <a:srgbClr val="183247"/>
                          </a:solidFill>
                          <a:latin typeface="Arial"/>
                          <a:ea typeface="Arial"/>
                          <a:cs typeface="Arial"/>
                        </a:rPr>
                        <a:t>220,099,689</a:t>
                      </a:r>
                    </a:p>
                  </a:txBody>
                  <a:tcPr marL="91440" marR="91440" marT="45720" marB="45720">
                    <a:solidFill>
                      <a:srgbClr val="FFFFFF"/>
                    </a:solidFill>
                  </a:tcPr>
                </a:tc>
              </a:tr>
              <a:tr h="530679">
                <a:tc>
                  <a:txBody>
                    <a:bodyPr/>
                    <a:lstStyle/>
                    <a:p>
                      <a:r>
                        <a:rPr sz="1875" b="0">
                          <a:solidFill>
                            <a:srgbClr val="183247"/>
                          </a:solidFill>
                          <a:latin typeface="Arial"/>
                          <a:ea typeface="Arial"/>
                          <a:cs typeface="Arial"/>
                        </a:rPr>
                        <a:t>100900101</a:t>
                      </a:r>
                    </a:p>
                  </a:txBody>
                  <a:tcPr marL="91440" marR="91440" marT="45720" marB="45720">
                    <a:solidFill>
                      <a:srgbClr val="FFFFFF"/>
                    </a:solidFill>
                  </a:tcPr>
                </a:tc>
                <a:tc>
                  <a:txBody>
                    <a:bodyPr/>
                    <a:lstStyle/>
                    <a:p>
                      <a:r>
                        <a:rPr sz="1875" b="0">
                          <a:solidFill>
                            <a:srgbClr val="183247"/>
                          </a:solidFill>
                          <a:latin typeface="Arial"/>
                          <a:ea typeface="Arial"/>
                          <a:cs typeface="Arial"/>
                        </a:rPr>
                        <a:t>hybrid</a:t>
                      </a:r>
                    </a:p>
                  </a:txBody>
                  <a:tcPr marL="91440" marR="91440" marT="45720" marB="45720">
                    <a:solidFill>
                      <a:srgbClr val="FFFFFF"/>
                    </a:solidFill>
                  </a:tcPr>
                </a:tc>
                <a:tc>
                  <a:txBody>
                    <a:bodyPr/>
                    <a:lstStyle/>
                    <a:p>
                      <a:r>
                        <a:rPr sz="1875" b="0">
                          <a:solidFill>
                            <a:srgbClr val="183247"/>
                          </a:solidFill>
                          <a:latin typeface="Arial"/>
                          <a:ea typeface="Arial"/>
                          <a:cs typeface="Arial"/>
                        </a:rPr>
                        <a:t>12</a:t>
                      </a:r>
                    </a:p>
                  </a:txBody>
                  <a:tcPr marL="91440" marR="91440" marT="45720" marB="45720">
                    <a:solidFill>
                      <a:srgbClr val="FFFFFF"/>
                    </a:solidFill>
                  </a:tcPr>
                </a:tc>
                <a:tc>
                  <a:txBody>
                    <a:bodyPr/>
                    <a:lstStyle/>
                    <a:p>
                      <a:r>
                        <a:rPr sz="1875" b="0">
                          <a:solidFill>
                            <a:srgbClr val="183247"/>
                          </a:solidFill>
                          <a:latin typeface="Arial"/>
                          <a:ea typeface="Arial"/>
                          <a:cs typeface="Arial"/>
                        </a:rPr>
                        <a:t>99.906250</a:t>
                      </a:r>
                    </a:p>
                  </a:txBody>
                  <a:tcPr marL="91440" marR="91440" marT="45720" marB="45720">
                    <a:solidFill>
                      <a:srgbClr val="FFFFFF"/>
                    </a:solidFill>
                  </a:tcPr>
                </a:tc>
                <a:tc>
                  <a:txBody>
                    <a:bodyPr/>
                    <a:lstStyle/>
                    <a:p>
                      <a:r>
                        <a:rPr sz="1875" b="0">
                          <a:solidFill>
                            <a:srgbClr val="183247"/>
                          </a:solidFill>
                          <a:latin typeface="Arial"/>
                          <a:ea typeface="Arial"/>
                          <a:cs typeface="Arial"/>
                        </a:rPr>
                        <a:t>226,424,963</a:t>
                      </a:r>
                    </a:p>
                  </a:txBody>
                  <a:tcPr marL="91440" marR="91440" marT="45720" marB="45720">
                    <a:solidFill>
                      <a:srgbClr val="FFFFFF"/>
                    </a:solidFill>
                  </a:tcPr>
                </a:tc>
              </a:tr>
              <a:tr h="530679">
                <a:tc>
                  <a:txBody>
                    <a:bodyPr/>
                    <a:lstStyle/>
                    <a:p>
                      <a:r>
                        <a:rPr sz="1875" b="0">
                          <a:solidFill>
                            <a:srgbClr val="183247"/>
                          </a:solidFill>
                          <a:latin typeface="Arial"/>
                          <a:ea typeface="Arial"/>
                          <a:cs typeface="Arial"/>
                        </a:rPr>
                        <a:t>100900102</a:t>
                      </a:r>
                    </a:p>
                  </a:txBody>
                  <a:tcPr marL="91440" marR="91440" marT="45720" marB="45720">
                    <a:solidFill>
                      <a:srgbClr val="FFFFFF"/>
                    </a:solidFill>
                  </a:tcPr>
                </a:tc>
                <a:tc>
                  <a:txBody>
                    <a:bodyPr/>
                    <a:lstStyle/>
                    <a:p>
                      <a:r>
                        <a:rPr sz="1875" b="0">
                          <a:solidFill>
                            <a:srgbClr val="183247"/>
                          </a:solidFill>
                          <a:latin typeface="Arial"/>
                          <a:ea typeface="Arial"/>
                          <a:cs typeface="Arial"/>
                        </a:rPr>
                        <a:t>original</a:t>
                      </a:r>
                    </a:p>
                  </a:txBody>
                  <a:tcPr marL="91440" marR="91440" marT="45720" marB="45720">
                    <a:solidFill>
                      <a:srgbClr val="FFFFFF"/>
                    </a:solidFill>
                  </a:tcPr>
                </a:tc>
                <a:tc>
                  <a:txBody>
                    <a:bodyPr/>
                    <a:lstStyle/>
                    <a:p>
                      <a:r>
                        <a:rPr sz="1875" b="0">
                          <a:solidFill>
                            <a:srgbClr val="183247"/>
                          </a:solidFill>
                          <a:latin typeface="Arial"/>
                          <a:ea typeface="Arial"/>
                          <a:cs typeface="Arial"/>
                        </a:rPr>
                        <a:t>1</a:t>
                      </a:r>
                    </a:p>
                  </a:txBody>
                  <a:tcPr marL="91440" marR="91440" marT="45720" marB="45720">
                    <a:solidFill>
                      <a:srgbClr val="FFFFFF"/>
                    </a:solidFill>
                  </a:tcPr>
                </a:tc>
                <a:tc>
                  <a:txBody>
                    <a:bodyPr/>
                    <a:lstStyle/>
                    <a:p>
                      <a:r>
                        <a:rPr sz="1875" b="0">
                          <a:solidFill>
                            <a:srgbClr val="183247"/>
                          </a:solidFill>
                          <a:latin typeface="Arial"/>
                          <a:ea typeface="Arial"/>
                          <a:cs typeface="Arial"/>
                        </a:rPr>
                        <a:t>92.515625</a:t>
                      </a:r>
                    </a:p>
                  </a:txBody>
                  <a:tcPr marL="91440" marR="91440" marT="45720" marB="45720">
                    <a:solidFill>
                      <a:srgbClr val="FFFFFF"/>
                    </a:solidFill>
                  </a:tcPr>
                </a:tc>
                <a:tc>
                  <a:txBody>
                    <a:bodyPr/>
                    <a:lstStyle/>
                    <a:p>
                      <a:r>
                        <a:rPr sz="1875" b="0">
                          <a:solidFill>
                            <a:srgbClr val="183247"/>
                          </a:solidFill>
                          <a:latin typeface="Arial"/>
                          <a:ea typeface="Arial"/>
                          <a:cs typeface="Arial"/>
                        </a:rPr>
                        <a:t>220,101,452</a:t>
                      </a:r>
                    </a:p>
                  </a:txBody>
                  <a:tcPr marL="91440" marR="91440" marT="45720" marB="45720">
                    <a:solidFill>
                      <a:srgbClr val="FFFFFF"/>
                    </a:solidFill>
                  </a:tcPr>
                </a:tc>
              </a:tr>
              <a:tr h="530679">
                <a:tc>
                  <a:txBody>
                    <a:bodyPr/>
                    <a:lstStyle/>
                    <a:p>
                      <a:r>
                        <a:rPr sz="1875" b="0">
                          <a:solidFill>
                            <a:srgbClr val="183247"/>
                          </a:solidFill>
                          <a:latin typeface="Arial"/>
                          <a:ea typeface="Arial"/>
                          <a:cs typeface="Arial"/>
                        </a:rPr>
                        <a:t>100900102</a:t>
                      </a:r>
                    </a:p>
                  </a:txBody>
                  <a:tcPr marL="91440" marR="91440" marT="45720" marB="45720">
                    <a:solidFill>
                      <a:srgbClr val="FFFFFF"/>
                    </a:solidFill>
                  </a:tcPr>
                </a:tc>
                <a:tc>
                  <a:txBody>
                    <a:bodyPr/>
                    <a:lstStyle/>
                    <a:p>
                      <a:r>
                        <a:rPr sz="1875" b="0">
                          <a:solidFill>
                            <a:srgbClr val="183247"/>
                          </a:solidFill>
                          <a:latin typeface="Arial"/>
                          <a:ea typeface="Arial"/>
                          <a:cs typeface="Arial"/>
                        </a:rPr>
                        <a:t>hybrid</a:t>
                      </a:r>
                    </a:p>
                  </a:txBody>
                  <a:tcPr marL="91440" marR="91440" marT="45720" marB="45720">
                    <a:solidFill>
                      <a:srgbClr val="FFFFFF"/>
                    </a:solidFill>
                  </a:tcPr>
                </a:tc>
                <a:tc>
                  <a:txBody>
                    <a:bodyPr/>
                    <a:lstStyle/>
                    <a:p>
                      <a:r>
                        <a:rPr sz="1875" b="0">
                          <a:solidFill>
                            <a:srgbClr val="183247"/>
                          </a:solidFill>
                          <a:latin typeface="Arial"/>
                          <a:ea typeface="Arial"/>
                          <a:cs typeface="Arial"/>
                        </a:rPr>
                        <a:t>12</a:t>
                      </a:r>
                    </a:p>
                  </a:txBody>
                  <a:tcPr marL="91440" marR="91440" marT="45720" marB="45720">
                    <a:solidFill>
                      <a:srgbClr val="FFFFFF"/>
                    </a:solidFill>
                  </a:tcPr>
                </a:tc>
                <a:tc>
                  <a:txBody>
                    <a:bodyPr/>
                    <a:lstStyle/>
                    <a:p>
                      <a:r>
                        <a:rPr sz="1875" b="0">
                          <a:solidFill>
                            <a:srgbClr val="183247"/>
                          </a:solidFill>
                          <a:latin typeface="Arial"/>
                          <a:ea typeface="Arial"/>
                          <a:cs typeface="Arial"/>
                        </a:rPr>
                        <a:t>94.078125</a:t>
                      </a:r>
                    </a:p>
                  </a:txBody>
                  <a:tcPr marL="91440" marR="91440" marT="45720" marB="45720">
                    <a:solidFill>
                      <a:srgbClr val="FFFFFF"/>
                    </a:solidFill>
                  </a:tcPr>
                </a:tc>
                <a:tc>
                  <a:txBody>
                    <a:bodyPr/>
                    <a:lstStyle/>
                    <a:p>
                      <a:r>
                        <a:rPr sz="1875" b="0">
                          <a:solidFill>
                            <a:srgbClr val="183247"/>
                          </a:solidFill>
                          <a:latin typeface="Arial"/>
                          <a:ea typeface="Arial"/>
                          <a:cs typeface="Arial"/>
                        </a:rPr>
                        <a:t>226,417,959</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A2A1BADE-4C14-4562-84AB-7BCFD69D797F}"/>
              </a:ext>
            </a:extLst>
          </p:cNvPr>
          <p:cNvSpPr>
            <a:spLocks xmlns:a="http://schemas.openxmlformats.org/drawingml/2006/main" noGrp="1"/>
          </p:cNvSpPr>
          <p:nvPr/>
        </p:nvSpPr>
        <p:spPr>
          <a:xfrm xmlns:a="http://schemas.openxmlformats.org/drawingml/2006/main">
            <a:off x="600075" y="6019800"/>
            <a:ext cx="1090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8616E"/>
                </a:solidFill>
                <a:latin typeface="Arial"/>
                <a:ea typeface="Arial"/>
                <a:cs typeface="Arial"/>
              </a:defRPr>
            </a:pPr>
            <a:r>
              <a:rPr sz="1500" b="0">
                <a:solidFill>
                  <a:srgbClr val="48616E"/>
                </a:solidFill>
                <a:latin typeface="Arial"/>
                <a:ea typeface="Arial"/>
                <a:cs typeface="Arial"/>
              </a:rPr>
              <a:t>Each CPU value is from an uncounted run. Counts come from a separate run on identical unsorted data.</a:t>
            </a:r>
          </a:p>
        </p:txBody>
      </p:sp>
      <p:sp>
        <p:nvSpPr>
          <p:cNvPr id="4" name="">
            <a:extLst xmlns:a="http://schemas.openxmlformats.org/drawingml/2006/main">
              <a:ext uri="{FF2B5EF4-FFF2-40B4-BE49-F238E27FC236}">
                <a16:creationId xmlns:a16="http://schemas.microsoft.com/office/drawing/2014/main" id="{EB4B8967-A34F-4973-951A-C03B6B5931FA}"/>
              </a:ext>
            </a:extLst>
          </p:cNvPr>
          <p:cNvSpPr>
            <a:spLocks xmlns:a="http://schemas.openxmlformats.org/drawingml/2006/main" noGrp="1"/>
          </p:cNvSpPr>
          <p:nvPr/>
        </p:nvSpPr>
        <p:spPr>
          <a:xfrm xmlns:a="http://schemas.openxmlformats.org/drawingml/2006/main">
            <a:off x="11239500" y="651510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8616E"/>
                </a:solidFill>
                <a:latin typeface="Arial"/>
                <a:ea typeface="Arial"/>
                <a:cs typeface="Arial"/>
              </a:defRPr>
            </a:pPr>
            <a:r>
              <a:rPr sz="1200" b="0">
                <a:solidFill>
                  <a:srgbClr val="48616E"/>
                </a:solidFill>
                <a:latin typeface="Arial"/>
                <a:ea typeface="Arial"/>
                <a:cs typeface="Arial"/>
              </a:rPr>
              <a:t>10</a:t>
            </a:r>
          </a:p>
        </p:txBody>
      </p:sp>
    </p:spTree>
    <p:extLst>
      <p:ext uri="{BB962C8B-B14F-4D97-AF65-F5344CB8AC3E}">
        <p14:creationId xmlns:p14="http://schemas.microsoft.com/office/powerpoint/2010/main" val="43578430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681C081-F586-405D-94F3-B942316EBA69}"/>
              </a:ext>
            </a:extLst>
          </p:cNvPr>
          <p:cNvSpPr>
            <a:spLocks xmlns:a="http://schemas.openxmlformats.org/drawingml/2006/main" noGrp="1"/>
          </p:cNvSpPr>
          <p:nvPr/>
        </p:nvSpPr>
        <p:spPr>
          <a:xfrm xmlns:a="http://schemas.openxmlformats.org/drawingml/2006/main">
            <a:off x="571500" y="333375"/>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247"/>
                </a:solidFill>
                <a:latin typeface="Arial"/>
                <a:ea typeface="Arial"/>
                <a:cs typeface="Arial"/>
              </a:defRPr>
            </a:pPr>
            <a:r>
              <a:rPr sz="3150" b="1">
                <a:solidFill>
                  <a:srgbClr val="183247"/>
                </a:solidFill>
                <a:latin typeface="Arial"/>
                <a:ea typeface="Arial"/>
                <a:cs typeface="Arial"/>
              </a:rPr>
              <a:t>Appendix: different criteria, different winners</a:t>
            </a:r>
          </a:p>
        </p:txBody>
      </p:sp>
      <p:graphicFrame>
        <p:nvGraphicFramePr>
          <p:cNvPr id="6" name=""/>
          <p:cNvGraphicFramePr/>
          <p:nvPr/>
        </p:nvGraphicFramePr>
        <p:xfrm>
          <a:off xmlns:a="http://schemas.openxmlformats.org/drawingml/2006/main" x="609600" y="1714500"/>
          <a:ext xmlns:a="http://schemas.openxmlformats.org/drawingml/2006/main" cx="10972800" cy="2857500"/>
        </p:xfrm>
        <a:graphic xmlns:a="http://schemas.openxmlformats.org/drawingml/2006/main">
          <a:graphicData uri="http://schemas.openxmlformats.org/drawingml/2006/table">
            <a:tbl>
              <a:tblPr/>
              <a:tblGrid>
                <a:gridCol w="3657600"/>
                <a:gridCol w="3657600"/>
                <a:gridCol w="3657600"/>
              </a:tblGrid>
              <a:tr h="714375">
                <a:tc>
                  <a:txBody>
                    <a:bodyPr/>
                    <a:lstStyle/>
                    <a:p>
                      <a:r>
                        <a:rPr sz="2025" b="1">
                          <a:solidFill>
                            <a:srgbClr val="FFFFFF"/>
                          </a:solidFill>
                          <a:latin typeface="Arial"/>
                          <a:ea typeface="Arial"/>
                          <a:cs typeface="Arial"/>
                        </a:rPr>
                        <a:t>Input n</a:t>
                      </a:r>
                    </a:p>
                  </a:txBody>
                  <a:tcPr marL="91440" marR="91440" marT="45720" marB="45720">
                    <a:solidFill>
                      <a:srgbClr val="166A8F"/>
                    </a:solidFill>
                  </a:tcPr>
                </a:tc>
                <a:tc>
                  <a:txBody>
                    <a:bodyPr/>
                    <a:lstStyle/>
                    <a:p>
                      <a:r>
                        <a:rPr sz="2025" b="1">
                          <a:solidFill>
                            <a:srgbClr val="FFFFFF"/>
                          </a:solidFill>
                          <a:latin typeface="Arial"/>
                          <a:ea typeface="Arial"/>
                          <a:cs typeface="Arial"/>
                        </a:rPr>
                        <a:t>Lowest median CPU S</a:t>
                      </a:r>
                    </a:p>
                  </a:txBody>
                  <a:tcPr marL="91440" marR="91440" marT="45720" marB="45720">
                    <a:solidFill>
                      <a:srgbClr val="166A8F"/>
                    </a:solidFill>
                  </a:tcPr>
                </a:tc>
                <a:tc>
                  <a:txBody>
                    <a:bodyPr/>
                    <a:lstStyle/>
                    <a:p>
                      <a:r>
                        <a:rPr sz="2025" b="1">
                          <a:solidFill>
                            <a:srgbClr val="FFFFFF"/>
                          </a:solidFill>
                          <a:latin typeface="Arial"/>
                          <a:ea typeface="Arial"/>
                          <a:cs typeface="Arial"/>
                        </a:rPr>
                        <a:t>Fewest median comparisons S</a:t>
                      </a:r>
                    </a:p>
                  </a:txBody>
                  <a:tcPr marL="91440" marR="91440" marT="45720" marB="45720">
                    <a:solidFill>
                      <a:srgbClr val="166A8F"/>
                    </a:solidFill>
                  </a:tcPr>
                </a:tc>
              </a:tr>
              <a:tr h="714375">
                <a:tc>
                  <a:txBody>
                    <a:bodyPr/>
                    <a:lstStyle/>
                    <a:p>
                      <a:r>
                        <a:rPr sz="2025" b="0">
                          <a:solidFill>
                            <a:srgbClr val="183247"/>
                          </a:solidFill>
                          <a:latin typeface="Arial"/>
                          <a:ea typeface="Arial"/>
                          <a:cs typeface="Arial"/>
                        </a:rPr>
                        <a:t>1,000</a:t>
                      </a:r>
                    </a:p>
                  </a:txBody>
                  <a:tcPr marL="91440" marR="91440" marT="45720" marB="45720">
                    <a:solidFill>
                      <a:srgbClr val="FFFFFF"/>
                    </a:solidFill>
                  </a:tcPr>
                </a:tc>
                <a:tc>
                  <a:txBody>
                    <a:bodyPr/>
                    <a:lstStyle/>
                    <a:p>
                      <a:r>
                        <a:rPr sz="2025" b="0">
                          <a:solidFill>
                            <a:srgbClr val="183247"/>
                          </a:solidFill>
                          <a:latin typeface="Arial"/>
                          <a:ea typeface="Arial"/>
                          <a:cs typeface="Arial"/>
                        </a:rPr>
                        <a:t>16</a:t>
                      </a:r>
                    </a:p>
                  </a:txBody>
                  <a:tcPr marL="91440" marR="91440" marT="45720" marB="45720">
                    <a:solidFill>
                      <a:srgbClr val="FFFFFF"/>
                    </a:solidFill>
                  </a:tcPr>
                </a:tc>
                <a:tc>
                  <a:txBody>
                    <a:bodyPr/>
                    <a:lstStyle/>
                    <a:p>
                      <a:r>
                        <a:rPr sz="2025" b="0">
                          <a:solidFill>
                            <a:srgbClr val="183247"/>
                          </a:solidFill>
                          <a:latin typeface="Arial"/>
                          <a:ea typeface="Arial"/>
                          <a:cs typeface="Arial"/>
                        </a:rPr>
                        <a:t>1</a:t>
                      </a:r>
                    </a:p>
                  </a:txBody>
                  <a:tcPr marL="91440" marR="91440" marT="45720" marB="45720">
                    <a:solidFill>
                      <a:srgbClr val="FFFFFF"/>
                    </a:solidFill>
                  </a:tcPr>
                </a:tc>
              </a:tr>
              <a:tr h="714375">
                <a:tc>
                  <a:txBody>
                    <a:bodyPr/>
                    <a:lstStyle/>
                    <a:p>
                      <a:r>
                        <a:rPr sz="2025" b="0">
                          <a:solidFill>
                            <a:srgbClr val="183247"/>
                          </a:solidFill>
                          <a:latin typeface="Arial"/>
                          <a:ea typeface="Arial"/>
                          <a:cs typeface="Arial"/>
                        </a:rPr>
                        <a:t>10,000</a:t>
                      </a:r>
                    </a:p>
                  </a:txBody>
                  <a:tcPr marL="91440" marR="91440" marT="45720" marB="45720">
                    <a:solidFill>
                      <a:srgbClr val="FFFFFF"/>
                    </a:solidFill>
                  </a:tcPr>
                </a:tc>
                <a:tc>
                  <a:txBody>
                    <a:bodyPr/>
                    <a:lstStyle/>
                    <a:p>
                      <a:r>
                        <a:rPr sz="2025" b="0">
                          <a:solidFill>
                            <a:srgbClr val="183247"/>
                          </a:solidFill>
                          <a:latin typeface="Arial"/>
                          <a:ea typeface="Arial"/>
                          <a:cs typeface="Arial"/>
                        </a:rPr>
                        <a:t>32</a:t>
                      </a:r>
                    </a:p>
                  </a:txBody>
                  <a:tcPr marL="91440" marR="91440" marT="45720" marB="45720">
                    <a:solidFill>
                      <a:srgbClr val="FFFFFF"/>
                    </a:solidFill>
                  </a:tcPr>
                </a:tc>
                <a:tc>
                  <a:txBody>
                    <a:bodyPr/>
                    <a:lstStyle/>
                    <a:p>
                      <a:r>
                        <a:rPr sz="2025" b="0">
                          <a:solidFill>
                            <a:srgbClr val="183247"/>
                          </a:solidFill>
                          <a:latin typeface="Arial"/>
                          <a:ea typeface="Arial"/>
                          <a:cs typeface="Arial"/>
                        </a:rPr>
                        <a:t>1</a:t>
                      </a:r>
                    </a:p>
                  </a:txBody>
                  <a:tcPr marL="91440" marR="91440" marT="45720" marB="45720">
                    <a:solidFill>
                      <a:srgbClr val="FFFFFF"/>
                    </a:solidFill>
                  </a:tcPr>
                </a:tc>
              </a:tr>
              <a:tr h="714375">
                <a:tc>
                  <a:txBody>
                    <a:bodyPr/>
                    <a:lstStyle/>
                    <a:p>
                      <a:r>
                        <a:rPr sz="2025" b="0">
                          <a:solidFill>
                            <a:srgbClr val="183247"/>
                          </a:solidFill>
                          <a:latin typeface="Arial"/>
                          <a:ea typeface="Arial"/>
                          <a:cs typeface="Arial"/>
                        </a:rPr>
                        <a:t>100,000</a:t>
                      </a:r>
                    </a:p>
                  </a:txBody>
                  <a:tcPr marL="91440" marR="91440" marT="45720" marB="45720">
                    <a:solidFill>
                      <a:srgbClr val="FFFFFF"/>
                    </a:solidFill>
                  </a:tcPr>
                </a:tc>
                <a:tc>
                  <a:txBody>
                    <a:bodyPr/>
                    <a:lstStyle/>
                    <a:p>
                      <a:r>
                        <a:rPr sz="2025" b="0">
                          <a:solidFill>
                            <a:srgbClr val="183247"/>
                          </a:solidFill>
                          <a:latin typeface="Arial"/>
                          <a:ea typeface="Arial"/>
                          <a:cs typeface="Arial"/>
                        </a:rPr>
                        <a:t>32</a:t>
                      </a:r>
                    </a:p>
                  </a:txBody>
                  <a:tcPr marL="91440" marR="91440" marT="45720" marB="45720">
                    <a:solidFill>
                      <a:srgbClr val="FFFFFF"/>
                    </a:solidFill>
                  </a:tcPr>
                </a:tc>
                <a:tc>
                  <a:txBody>
                    <a:bodyPr/>
                    <a:lstStyle/>
                    <a:p>
                      <a:r>
                        <a:rPr sz="2025" b="0">
                          <a:solidFill>
                            <a:srgbClr val="183247"/>
                          </a:solidFill>
                          <a:latin typeface="Arial"/>
                          <a:ea typeface="Arial"/>
                          <a:cs typeface="Arial"/>
                        </a:rPr>
                        <a:t>1</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08DF72C-4F0F-44E8-B9B6-DA49FD4019F3}"/>
              </a:ext>
            </a:extLst>
          </p:cNvPr>
          <p:cNvSpPr>
            <a:spLocks xmlns:a="http://schemas.openxmlformats.org/drawingml/2006/main" noGrp="1"/>
          </p:cNvSpPr>
          <p:nvPr/>
        </p:nvSpPr>
        <p:spPr>
          <a:xfrm xmlns:a="http://schemas.openxmlformats.org/drawingml/2006/main">
            <a:off x="600075" y="6019800"/>
            <a:ext cx="1090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8616E"/>
                </a:solidFill>
                <a:latin typeface="Arial"/>
                <a:ea typeface="Arial"/>
                <a:cs typeface="Arial"/>
              </a:defRPr>
            </a:pPr>
            <a:r>
              <a:rPr sz="1500" b="0">
                <a:solidFill>
                  <a:srgbClr val="48616E"/>
                </a:solidFill>
                <a:latin typeface="Arial"/>
                <a:ea typeface="Arial"/>
                <a:cs typeface="Arial"/>
              </a:rPr>
              <a:t>Ties use the smaller S. These are per-size descriptive winners, before shortlist confirmation.</a:t>
            </a:r>
          </a:p>
        </p:txBody>
      </p:sp>
      <p:sp>
        <p:nvSpPr>
          <p:cNvPr id="4" name="">
            <a:extLst xmlns:a="http://schemas.openxmlformats.org/drawingml/2006/main">
              <a:ext uri="{FF2B5EF4-FFF2-40B4-BE49-F238E27FC236}">
                <a16:creationId xmlns:a16="http://schemas.microsoft.com/office/drawing/2014/main" id="{DDF8A347-ADCC-405C-A71C-F6374EE573E7}"/>
              </a:ext>
            </a:extLst>
          </p:cNvPr>
          <p:cNvSpPr>
            <a:spLocks xmlns:a="http://schemas.openxmlformats.org/drawingml/2006/main" noGrp="1"/>
          </p:cNvSpPr>
          <p:nvPr/>
        </p:nvSpPr>
        <p:spPr>
          <a:xfrm xmlns:a="http://schemas.openxmlformats.org/drawingml/2006/main">
            <a:off x="11239500" y="651510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8616E"/>
                </a:solidFill>
                <a:latin typeface="Arial"/>
                <a:ea typeface="Arial"/>
                <a:cs typeface="Arial"/>
              </a:defRPr>
            </a:pPr>
            <a:r>
              <a:rPr sz="1200" b="0">
                <a:solidFill>
                  <a:srgbClr val="48616E"/>
                </a:solidFill>
                <a:latin typeface="Arial"/>
                <a:ea typeface="Arial"/>
                <a:cs typeface="Arial"/>
              </a:rPr>
              <a:t>11</a:t>
            </a:r>
          </a:p>
        </p:txBody>
      </p:sp>
    </p:spTree>
    <p:extLst>
      <p:ext uri="{BB962C8B-B14F-4D97-AF65-F5344CB8AC3E}">
        <p14:creationId xmlns:p14="http://schemas.microsoft.com/office/powerpoint/2010/main" val="8253279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2026-09-13T11:38:11.3710000Z</dcterms:created>
  <dcterms:modified xsi:type="dcterms:W3CDTF">2026-09-13T11:38:11.3710000Z</dcterms:modified>
</coreProperties>
</file>